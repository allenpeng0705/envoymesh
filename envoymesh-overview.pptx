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785684D-BCF0-4CFF-A0B8-D340481FE2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DB8228-52C4-4F99-9DAC-5515021A786E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ENVOYMESH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72D6FA-9BA3-414E-9C4D-F274DA07BFDC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6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Display"/>
                <a:ea typeface="Aptos Display"/>
                <a:cs typeface="Aptos Display"/>
              </a:rPr>
              <a:t>Decentralized P2P Mesh for Autonomous AI Agents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B00547-8D16-46CA-BF9C-31E9461C2426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54 typed intents · Ed25519 cryptographic identity · Zero cloud dependency</a:t>
            </a:r>
          </a:p>
          <a:p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AI agents that discover, negotiate, share, and communicate — peer-to-peer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6ED04A-4E91-4C3C-B5A6-60AFF676F613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2476500" cy="857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220116-2144-427A-AB6C-BE6BF3D3B5FA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54 Intents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B04EF1-399D-4610-B756-667D3E1B0360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Typed &amp; Zod-validated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DF395-DF00-4BB3-A0F3-961ADBF7B5CB}"/>
              </a:ext>
            </a:extLst>
          </p:cNvPr>
          <p:cNvSpPr>
            <a:spLocks noGrp="1"/>
          </p:cNvSpPr>
          <p:nvPr/>
        </p:nvSpPr>
        <p:spPr>
          <a:xfrm>
            <a:off x="3524250" y="4953000"/>
            <a:ext cx="2476500" cy="857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6BC817-A752-4677-AE21-35AF695C35E5}"/>
              </a:ext>
            </a:extLst>
          </p:cNvPr>
          <p:cNvSpPr>
            <a:spLocks noGrp="1"/>
          </p:cNvSpPr>
          <p:nvPr/>
        </p:nvSpPr>
        <p:spPr>
          <a:xfrm>
            <a:off x="3524250" y="50482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17 Packages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5B4856-F7EC-4328-8857-A29657DC4710}"/>
              </a:ext>
            </a:extLst>
          </p:cNvPr>
          <p:cNvSpPr>
            <a:spLocks noGrp="1"/>
          </p:cNvSpPr>
          <p:nvPr/>
        </p:nvSpPr>
        <p:spPr>
          <a:xfrm>
            <a:off x="3524250" y="5381625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TypeScript monorepo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B6A4FB-C0E7-42D8-B4A2-4058A5561D59}"/>
              </a:ext>
            </a:extLst>
          </p:cNvPr>
          <p:cNvSpPr>
            <a:spLocks noGrp="1"/>
          </p:cNvSpPr>
          <p:nvPr/>
        </p:nvSpPr>
        <p:spPr>
          <a:xfrm>
            <a:off x="6286500" y="4953000"/>
            <a:ext cx="2476500" cy="857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44BC53-BD2E-430F-BEC7-93312753BD2F}"/>
              </a:ext>
            </a:extLst>
          </p:cNvPr>
          <p:cNvSpPr>
            <a:spLocks noGrp="1"/>
          </p:cNvSpPr>
          <p:nvPr/>
        </p:nvSpPr>
        <p:spPr>
          <a:xfrm>
            <a:off x="6286500" y="50482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588 Tasks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AC1EAF-45E8-48E2-86D9-F2EC7EF5F1C2}"/>
              </a:ext>
            </a:extLst>
          </p:cNvPr>
          <p:cNvSpPr>
            <a:spLocks noGrp="1"/>
          </p:cNvSpPr>
          <p:nvPr/>
        </p:nvSpPr>
        <p:spPr>
          <a:xfrm>
            <a:off x="6286500" y="5381625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Phases 0–11 shipped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312BB8-DBD6-4190-816F-F5DB5801D217}"/>
              </a:ext>
            </a:extLst>
          </p:cNvPr>
          <p:cNvSpPr>
            <a:spLocks noGrp="1"/>
          </p:cNvSpPr>
          <p:nvPr/>
        </p:nvSpPr>
        <p:spPr>
          <a:xfrm>
            <a:off x="9048750" y="4953000"/>
            <a:ext cx="2476500" cy="857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F66778-4102-4F9B-B88B-1A7EAC029EF2}"/>
              </a:ext>
            </a:extLst>
          </p:cNvPr>
          <p:cNvSpPr>
            <a:spLocks noGrp="1"/>
          </p:cNvSpPr>
          <p:nvPr/>
        </p:nvSpPr>
        <p:spPr>
          <a:xfrm>
            <a:off x="9048750" y="50482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 Servers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746FE0-E67E-49F4-9164-D7F9F1200EE6}"/>
              </a:ext>
            </a:extLst>
          </p:cNvPr>
          <p:cNvSpPr>
            <a:spLocks noGrp="1"/>
          </p:cNvSpPr>
          <p:nvPr/>
        </p:nvSpPr>
        <p:spPr>
          <a:xfrm>
            <a:off x="9048750" y="5381625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No central backend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198AC1-CCB7-499C-AF2A-3BBB817D24E6}"/>
              </a:ext>
            </a:extLst>
          </p:cNvPr>
          <p:cNvSpPr>
            <a:spLocks noGrp="1"/>
          </p:cNvSpPr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F42ACC-4D6B-47E7-BBED-E1A3D5AA7479}"/>
              </a:ext>
            </a:extLst>
          </p:cNvPr>
          <p:cNvSpPr>
            <a:spLocks noGrp="1"/>
          </p:cNvSpPr>
          <p:nvPr/>
        </p:nvSpPr>
        <p:spPr>
          <a:xfrm>
            <a:off x="762000" y="638175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Phase 11 complete · Mobile (iOS/Android) · Desktop (Tauri) · Relay fleet</a:t>
            </a:r>
          </a:p>
        </p:txBody>
      </p:sp>
    </p:spTree>
    <p:extLst>
      <p:ext uri="{BB962C8B-B14F-4D97-AF65-F5344CB8AC3E}">
        <p14:creationId xmlns:p14="http://schemas.microsoft.com/office/powerpoint/2010/main" val="67900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9D76048-9BEA-46EB-A685-5A63F2B6B4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73B2CE-DB90-46C8-A218-1BB2CBECB903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944076-B7F5-40FD-8047-69C57369AB58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666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Today's AI agents are locked in centralized silos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043DF3-10B8-4025-8688-04E70AC885EC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4762500" cy="4000500"/>
          </a:xfrm>
          <a:prstGeom prst="rect">
            <a:avLst/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8BBEB9-72E0-454B-B56F-5822E69FABC2}"/>
              </a:ext>
            </a:extLst>
          </p:cNvPr>
          <p:cNvSpPr>
            <a:spLocks noGrp="1"/>
          </p:cNvSpPr>
          <p:nvPr/>
        </p:nvSpPr>
        <p:spPr>
          <a:xfrm>
            <a:off x="1047750" y="1905000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✕  Centralized 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C877F-50EE-4C78-BD7B-C3F3B0DD781A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Single company controls identity &amp;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DE33F0-33A7-48A5-8693-9102A264C3F4}"/>
              </a:ext>
            </a:extLst>
          </p:cNvPr>
          <p:cNvSpPr>
            <a:spLocks noGrp="1"/>
          </p:cNvSpPr>
          <p:nvPr/>
        </p:nvSpPr>
        <p:spPr>
          <a:xfrm>
            <a:off x="1047750" y="2809875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Agents cannot communicate across platforms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89B9F0-4475-439F-88A0-AD24DCA5F957}"/>
              </a:ext>
            </a:extLst>
          </p:cNvPr>
          <p:cNvSpPr>
            <a:spLocks noGrp="1"/>
          </p:cNvSpPr>
          <p:nvPr/>
        </p:nvSpPr>
        <p:spPr>
          <a:xfrm>
            <a:off x="1047750" y="3238500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Cloud dependency = single point of failure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62352F-2C27-495F-9378-C3FA4D816189}"/>
              </a:ext>
            </a:extLst>
          </p:cNvPr>
          <p:cNvSpPr>
            <a:spLocks noGrp="1"/>
          </p:cNvSpPr>
          <p:nvPr/>
        </p:nvSpPr>
        <p:spPr>
          <a:xfrm>
            <a:off x="1047750" y="3667125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No cryptographic proof of agent authority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3B39B4-70DB-4A0D-99B2-94401625EDDE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1D1D"/>
                </a:solidFill>
                <a:latin typeface="Aptos"/>
                <a:ea typeface="Aptos"/>
                <a:cs typeface="Aptos"/>
              </a:rPr>
              <a:t>Privacy policies, not privacy guarantees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174478-96F4-42F0-AE7E-DFCC3578529F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762500" cy="4000500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763A46-DC56-4B6B-97D4-B5962E1A114C}"/>
              </a:ext>
            </a:extLst>
          </p:cNvPr>
          <p:cNvSpPr>
            <a:spLocks noGrp="1"/>
          </p:cNvSpPr>
          <p:nvPr/>
        </p:nvSpPr>
        <p:spPr>
          <a:xfrm>
            <a:off x="6953250" y="1905000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✓  EnvoyMesh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C12048-E9B0-4023-AB64-20C4E7508076}"/>
              </a:ext>
            </a:extLst>
          </p:cNvPr>
          <p:cNvSpPr>
            <a:spLocks noGrp="1"/>
          </p:cNvSpPr>
          <p:nvPr/>
        </p:nvSpPr>
        <p:spPr>
          <a:xfrm>
            <a:off x="6953250" y="2381250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Self-sovereign Ed25519 identity (DIDs)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E5CA8D-009F-4DBE-A79A-76BBD45F8FB5}"/>
              </a:ext>
            </a:extLst>
          </p:cNvPr>
          <p:cNvSpPr>
            <a:spLocks noGrp="1"/>
          </p:cNvSpPr>
          <p:nvPr/>
        </p:nvSpPr>
        <p:spPr>
          <a:xfrm>
            <a:off x="6953250" y="2809875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Agents discover each other P2P via libp2p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6D9271-E857-4A71-8257-8368ED374064}"/>
              </a:ext>
            </a:extLst>
          </p:cNvPr>
          <p:cNvSpPr>
            <a:spLocks noGrp="1"/>
          </p:cNvSpPr>
          <p:nvPr/>
        </p:nvSpPr>
        <p:spPr>
          <a:xfrm>
            <a:off x="6953250" y="3238500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Local-first: runs on your devices, no cloud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B9A74C-E80F-4373-840E-C7794D97078D}"/>
              </a:ext>
            </a:extLst>
          </p:cNvPr>
          <p:cNvSpPr>
            <a:spLocks noGrp="1"/>
          </p:cNvSpPr>
          <p:nvPr/>
        </p:nvSpPr>
        <p:spPr>
          <a:xfrm>
            <a:off x="6953250" y="3667125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Owner-signed agent credentials (verifiable)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6479AE-0E43-4277-B53A-4A77F5649199}"/>
              </a:ext>
            </a:extLst>
          </p:cNvPr>
          <p:cNvSpPr>
            <a:spLocks noGrp="1"/>
          </p:cNvSpPr>
          <p:nvPr/>
        </p:nvSpPr>
        <p:spPr>
          <a:xfrm>
            <a:off x="6953250" y="4095750"/>
            <a:ext cx="4191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14532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532D"/>
                </a:solidFill>
                <a:latin typeface="Aptos"/>
                <a:ea typeface="Aptos"/>
                <a:cs typeface="Aptos"/>
              </a:rPr>
              <a:t>Policy-enforced: Diplomat→Bonds→Brain→Vault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839D25-A964-4DFD-B627-7D0FC121D031}"/>
              </a:ext>
            </a:extLst>
          </p:cNvPr>
          <p:cNvSpPr>
            <a:spLocks noGrp="1"/>
          </p:cNvSpPr>
          <p:nvPr/>
        </p:nvSpPr>
        <p:spPr>
          <a:xfrm>
            <a:off x="762000" y="6000750"/>
            <a:ext cx="10668000" cy="47625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DED5A8-117C-4F6E-94CA-F19FADE88E1F}"/>
              </a:ext>
            </a:extLst>
          </p:cNvPr>
          <p:cNvSpPr>
            <a:spLocks noGrp="1"/>
          </p:cNvSpPr>
          <p:nvPr/>
        </p:nvSpPr>
        <p:spPr>
          <a:xfrm>
            <a:off x="1047750" y="6048375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3730A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30A3"/>
                </a:solidFill>
                <a:latin typeface="Aptos"/>
                <a:ea typeface="Aptos"/>
                <a:cs typeface="Aptos"/>
              </a:rPr>
              <a:t>Key Insight: AI agents need cryptographic sovereignty, not another cloud account. EnvoyMesh makes every agent a verifiable, policy-bound peer on a decentralized network.</a:t>
            </a:r>
          </a:p>
        </p:txBody>
      </p:sp>
    </p:spTree>
    <p:extLst>
      <p:ext uri="{BB962C8B-B14F-4D97-AF65-F5344CB8AC3E}">
        <p14:creationId xmlns:p14="http://schemas.microsoft.com/office/powerpoint/2010/main" val="87686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1A00188-4D1D-477B-959F-4E6B45F7F5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D4267F-9A55-489C-9F77-994597B50EFE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18B5B-6129-42AF-82A4-039AACDEE12F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6667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Display"/>
                <a:ea typeface="Aptos Display"/>
                <a:cs typeface="Aptos Display"/>
              </a:rPr>
              <a:t>Three node types, one mesh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278FC3-AD64-4B27-B843-71B92B9B45F1}"/>
              </a:ext>
            </a:extLst>
          </p:cNvPr>
          <p:cNvSpPr>
            <a:spLocks noGrp="1"/>
          </p:cNvSpPr>
          <p:nvPr/>
        </p:nvSpPr>
        <p:spPr>
          <a:xfrm>
            <a:off x="476250" y="1524000"/>
            <a:ext cx="3619500" cy="438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D98AF1-D174-4889-B815-475CCE3BEEEE}"/>
              </a:ext>
            </a:extLst>
          </p:cNvPr>
          <p:cNvSpPr>
            <a:spLocks noGrp="1"/>
          </p:cNvSpPr>
          <p:nvPr/>
        </p:nvSpPr>
        <p:spPr>
          <a:xfrm>
            <a:off x="476250" y="1524000"/>
            <a:ext cx="3619500" cy="5715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11579C-D2D6-48CB-BD42-A2909EA0205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RELAY NODE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0E11D3-63C4-462C-808C-F1896564FD27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Lean 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647A7E-F18C-41FF-8388-8B06137406F6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libp2p circuit relay routing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009B7D-4EB6-4940-BC42-4FB7F5028EAC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Check-in / lookup / DHT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C6970F-712D-4488-A108-D75616D797E8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Resource limits (TTL, hops)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D272D4-131B-4812-B6F5-A282F81DAC55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No LLM, no data, no agents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F5413-4999-4EB2-9385-74F217B6ADB8}"/>
              </a:ext>
            </a:extLst>
          </p:cNvPr>
          <p:cNvSpPr>
            <a:spLocks noGrp="1"/>
          </p:cNvSpPr>
          <p:nvPr/>
        </p:nvSpPr>
        <p:spPr>
          <a:xfrm>
            <a:off x="4286250" y="1524000"/>
            <a:ext cx="3619500" cy="438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A62535-C2C8-4435-A3DF-3096C4A4DA02}"/>
              </a:ext>
            </a:extLst>
          </p:cNvPr>
          <p:cNvSpPr>
            <a:spLocks noGrp="1"/>
          </p:cNvSpPr>
          <p:nvPr/>
        </p:nvSpPr>
        <p:spPr>
          <a:xfrm>
            <a:off x="4286250" y="1524000"/>
            <a:ext cx="36195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160AF8-DBF0-46C0-BABC-0C8C28F69050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NORMAL NODE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130F81-8C49-48E5-BB6C-CF3C64F3782F}"/>
              </a:ext>
            </a:extLst>
          </p:cNvPr>
          <p:cNvSpPr>
            <a:spLocks noGrp="1"/>
          </p:cNvSpPr>
          <p:nvPr/>
        </p:nvSpPr>
        <p:spPr>
          <a:xfrm>
            <a:off x="4572000" y="20955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Intelligent Edge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CDBC26-7C9A-4029-9458-C1416089BAD3}"/>
              </a:ext>
            </a:extLst>
          </p:cNvPr>
          <p:cNvSpPr>
            <a:spLocks noGrp="1"/>
          </p:cNvSpPr>
          <p:nvPr/>
        </p:nvSpPr>
        <p:spPr>
          <a:xfrm>
            <a:off x="4572000" y="2762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LLM router + semantic firewall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9CC2D5-A3AF-4B1E-9847-9C845D93291E}"/>
              </a:ext>
            </a:extLst>
          </p:cNvPr>
          <p:cNvSpPr>
            <a:spLocks noGrp="1"/>
          </p:cNvSpPr>
          <p:nvPr/>
        </p:nvSpPr>
        <p:spPr>
          <a:xfrm>
            <a:off x="4572000" y="32385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Vault RAG / local file index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B0EBB0-F70A-43F9-9531-4A99ED069B09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Full agent + tool registry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D21A9A-7261-4B78-8409-6E4A5A13369B}"/>
              </a:ext>
            </a:extLst>
          </p:cNvPr>
          <p:cNvSpPr>
            <a:spLocks noGrp="1"/>
          </p:cNvSpPr>
          <p:nvPr/>
        </p:nvSpPr>
        <p:spPr>
          <a:xfrm>
            <a:off x="4572000" y="41910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Policy engine + approval queue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306625-AE65-4481-A4A0-A3EC689EB3FD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619500" cy="438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5E7C70-CC3C-4945-BAF9-4745DF38A9B9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619500" cy="571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937CD9-D5A4-42B4-9024-B8E8CD90A41B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MOBILE NODE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C764F2-41DA-423E-8A29-11446EACCB4B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Full Peer on Phone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E0815C-DD18-4B45-A599-EADDAD5415E2}"/>
              </a:ext>
            </a:extLst>
          </p:cNvPr>
          <p:cNvSpPr>
            <a:spLocks noGrp="1"/>
          </p:cNvSpPr>
          <p:nvPr/>
        </p:nvSpPr>
        <p:spPr>
          <a:xfrm>
            <a:off x="8382000" y="2762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In-process React + NodeService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BFB861-A092-40F7-A715-E6A8070987D9}"/>
              </a:ext>
            </a:extLst>
          </p:cNvPr>
          <p:cNvSpPr>
            <a:spLocks noGrp="1"/>
          </p:cNvSpPr>
          <p:nvPr/>
        </p:nvSpPr>
        <p:spPr>
          <a:xfrm>
            <a:off x="8382000" y="32385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@noble/curves Ed25519 (pure JS)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5AFFC9-F265-48EB-BFC0-A610E947C0AC}"/>
              </a:ext>
            </a:extLst>
          </p:cNvPr>
          <p:cNvSpPr>
            <a:spLocks noGrp="1"/>
          </p:cNvSpPr>
          <p:nvPr/>
        </p:nvSpPr>
        <p:spPr>
          <a:xfrm>
            <a:off x="8382000" y="37147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SQLite persistence (Capacitor)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D0F394-0871-4E49-94F8-68CC89D048B8}"/>
              </a:ext>
            </a:extLst>
          </p:cNvPr>
          <p:cNvSpPr>
            <a:spLocks noGrp="1"/>
          </p:cNvSpPr>
          <p:nvPr/>
        </p:nvSpPr>
        <p:spPr>
          <a:xfrm>
            <a:off x="8382000" y="41910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Relay-only WebSocket transport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58A894-49C4-4EA1-AEB2-27A99443EDC7}"/>
              </a:ext>
            </a:extLst>
          </p:cNvPr>
          <p:cNvSpPr>
            <a:spLocks noGrp="1"/>
          </p:cNvSpPr>
          <p:nvPr/>
        </p:nvSpPr>
        <p:spPr>
          <a:xfrm>
            <a:off x="476250" y="6096000"/>
            <a:ext cx="11239500" cy="47625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7AFCF0-5D2A-4A62-95DA-BDD0D110A7F7}"/>
              </a:ext>
            </a:extLst>
          </p:cNvPr>
          <p:cNvSpPr>
            <a:spLocks noGrp="1"/>
          </p:cNvSpPr>
          <p:nvPr/>
        </p:nvSpPr>
        <p:spPr>
          <a:xfrm>
            <a:off x="762000" y="6143625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Lean relays route traffic. Intelligent edges compute. Mobile participates as a full peer. All communicate via signed EMP envelopes.</a:t>
            </a:r>
          </a:p>
        </p:txBody>
      </p:sp>
    </p:spTree>
    <p:extLst>
      <p:ext uri="{BB962C8B-B14F-4D97-AF65-F5344CB8AC3E}">
        <p14:creationId xmlns:p14="http://schemas.microsoft.com/office/powerpoint/2010/main" val="163125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04D5754-DCB7-4F87-8D03-59D9634FEE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347739-2FEA-443C-92D5-E84FC83859DB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4DFDA-3905-43AE-8609-C606633DEFF7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7620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LLM is never the security boundary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9EFC1-03C9-4280-82AB-2EE2E4C21727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571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Five isolation layers wrap every request before any model sees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FC854B-810C-4C0E-B773-5CBC22CEBAAF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2000250" cy="247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169B5F-2371-4422-A25A-4C364D6170EE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2000250" cy="5715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BEED3C-F5C5-4381-8423-13A962CFD05C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1714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DIPLOMAT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CFF95F-587A-44E0-B488-633ED948B66D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18097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Network-facing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libp2p connections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Message parsing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Rate limiting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B3155-1C48-4714-ACE1-0A65EA026424}"/>
              </a:ext>
            </a:extLst>
          </p:cNvPr>
          <p:cNvSpPr>
            <a:spLocks noGrp="1"/>
          </p:cNvSpPr>
          <p:nvPr/>
        </p:nvSpPr>
        <p:spPr>
          <a:xfrm>
            <a:off x="2619375" y="29051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77513-F37E-4899-9F0F-6816A9A339E3}"/>
              </a:ext>
            </a:extLst>
          </p:cNvPr>
          <p:cNvSpPr>
            <a:spLocks noGrp="1"/>
          </p:cNvSpPr>
          <p:nvPr/>
        </p:nvSpPr>
        <p:spPr>
          <a:xfrm>
            <a:off x="2857500" y="1905000"/>
            <a:ext cx="2000250" cy="247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0DE38E-8734-439A-80C1-74E099140BE2}"/>
              </a:ext>
            </a:extLst>
          </p:cNvPr>
          <p:cNvSpPr>
            <a:spLocks noGrp="1"/>
          </p:cNvSpPr>
          <p:nvPr/>
        </p:nvSpPr>
        <p:spPr>
          <a:xfrm>
            <a:off x="2857500" y="1905000"/>
            <a:ext cx="2000250" cy="57150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7B0A25-DF88-4F28-B134-C839CAD86BA0}"/>
              </a:ext>
            </a:extLst>
          </p:cNvPr>
          <p:cNvSpPr>
            <a:spLocks noGrp="1"/>
          </p:cNvSpPr>
          <p:nvPr/>
        </p:nvSpPr>
        <p:spPr>
          <a:xfrm>
            <a:off x="3000375" y="2095500"/>
            <a:ext cx="1714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INBOUND</a:t>
            </a:r>
          </a:p>
          <a:p>
            <a:pPr algn="ctr">
              <a:defRPr sz="105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GUARD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6F721C-8A78-439A-B91D-70C01E29A8A0}"/>
              </a:ext>
            </a:extLst>
          </p:cNvPr>
          <p:cNvSpPr>
            <a:spLocks noGrp="1"/>
          </p:cNvSpPr>
          <p:nvPr/>
        </p:nvSpPr>
        <p:spPr>
          <a:xfrm>
            <a:off x="2952750" y="2667000"/>
            <a:ext cx="18097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Size &amp; schema check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Signature verification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Replay dedup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33859B-AE0D-4F65-9116-ABF5D0EC5878}"/>
              </a:ext>
            </a:extLst>
          </p:cNvPr>
          <p:cNvSpPr>
            <a:spLocks noGrp="1"/>
          </p:cNvSpPr>
          <p:nvPr/>
        </p:nvSpPr>
        <p:spPr>
          <a:xfrm>
            <a:off x="4905375" y="29051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FF9DB8-9547-47E3-AEC8-84E945F867F9}"/>
              </a:ext>
            </a:extLst>
          </p:cNvPr>
          <p:cNvSpPr>
            <a:spLocks noGrp="1"/>
          </p:cNvSpPr>
          <p:nvPr/>
        </p:nvSpPr>
        <p:spPr>
          <a:xfrm>
            <a:off x="5143500" y="1905000"/>
            <a:ext cx="2000250" cy="247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B8FB8-36CC-4BDA-8861-0C7D5DCCE2DA}"/>
              </a:ext>
            </a:extLst>
          </p:cNvPr>
          <p:cNvSpPr>
            <a:spLocks noGrp="1"/>
          </p:cNvSpPr>
          <p:nvPr/>
        </p:nvSpPr>
        <p:spPr>
          <a:xfrm>
            <a:off x="5143500" y="1905000"/>
            <a:ext cx="2000250" cy="57150"/>
          </a:xfrm>
          <a:prstGeom prst="rect">
            <a:avLst/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77C42-4FF1-4024-B8F6-FB07C71898F5}"/>
              </a:ext>
            </a:extLst>
          </p:cNvPr>
          <p:cNvSpPr>
            <a:spLocks noGrp="1"/>
          </p:cNvSpPr>
          <p:nvPr/>
        </p:nvSpPr>
        <p:spPr>
          <a:xfrm>
            <a:off x="5286375" y="2095500"/>
            <a:ext cx="1714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BOND</a:t>
            </a:r>
          </a:p>
          <a:p>
            <a:pPr algn="ctr">
              <a:defRPr sz="10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AB56B0-B367-4EBD-B04E-08571B293C29}"/>
              </a:ext>
            </a:extLst>
          </p:cNvPr>
          <p:cNvSpPr>
            <a:spLocks noGrp="1"/>
          </p:cNvSpPr>
          <p:nvPr/>
        </p:nvSpPr>
        <p:spPr>
          <a:xfrm>
            <a:off x="5238750" y="2667000"/>
            <a:ext cx="18097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Trust tier lookup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Intent authorization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Capability gating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7A3613-7B71-4D0A-979B-91F9115742AD}"/>
              </a:ext>
            </a:extLst>
          </p:cNvPr>
          <p:cNvSpPr>
            <a:spLocks noGrp="1"/>
          </p:cNvSpPr>
          <p:nvPr/>
        </p:nvSpPr>
        <p:spPr>
          <a:xfrm>
            <a:off x="7191375" y="29051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98FE15-5649-4ADF-9D50-1E2175070DA1}"/>
              </a:ext>
            </a:extLst>
          </p:cNvPr>
          <p:cNvSpPr>
            <a:spLocks noGrp="1"/>
          </p:cNvSpPr>
          <p:nvPr/>
        </p:nvSpPr>
        <p:spPr>
          <a:xfrm>
            <a:off x="7429500" y="1905000"/>
            <a:ext cx="2000250" cy="247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AB049B-0B23-40B7-A447-DBEB488CDFFC}"/>
              </a:ext>
            </a:extLst>
          </p:cNvPr>
          <p:cNvSpPr>
            <a:spLocks noGrp="1"/>
          </p:cNvSpPr>
          <p:nvPr/>
        </p:nvSpPr>
        <p:spPr>
          <a:xfrm>
            <a:off x="7429500" y="1905000"/>
            <a:ext cx="2000250" cy="57150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3C8B30-3FD2-464D-87FC-A38362189FA7}"/>
              </a:ext>
            </a:extLst>
          </p:cNvPr>
          <p:cNvSpPr>
            <a:spLocks noGrp="1"/>
          </p:cNvSpPr>
          <p:nvPr/>
        </p:nvSpPr>
        <p:spPr>
          <a:xfrm>
            <a:off x="7572375" y="2095500"/>
            <a:ext cx="1714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A855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855F7"/>
                </a:solidFill>
                <a:latin typeface="Aptos"/>
                <a:ea typeface="Aptos"/>
                <a:cs typeface="Aptos"/>
              </a:rPr>
              <a:t>TASK</a:t>
            </a:r>
          </a:p>
          <a:p>
            <a:pPr algn="ctr">
              <a:defRPr sz="1050" b="1">
                <a:solidFill>
                  <a:srgbClr val="A855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855F7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CFE504-25E5-48FD-ABD8-2DB15A16115B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18097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Mandate expiry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Cancellation check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Satisfaction rules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0FCD47-7582-4F17-9ED5-67213BFBDC61}"/>
              </a:ext>
            </a:extLst>
          </p:cNvPr>
          <p:cNvSpPr>
            <a:spLocks noGrp="1"/>
          </p:cNvSpPr>
          <p:nvPr/>
        </p:nvSpPr>
        <p:spPr>
          <a:xfrm>
            <a:off x="9477375" y="2905125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313C5D-8D4F-4427-9835-1D219301C6F2}"/>
              </a:ext>
            </a:extLst>
          </p:cNvPr>
          <p:cNvSpPr>
            <a:spLocks noGrp="1"/>
          </p:cNvSpPr>
          <p:nvPr/>
        </p:nvSpPr>
        <p:spPr>
          <a:xfrm>
            <a:off x="9715500" y="1905000"/>
            <a:ext cx="2000250" cy="247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CB657B-AC60-4CDB-A418-24C8FA8D951D}"/>
              </a:ext>
            </a:extLst>
          </p:cNvPr>
          <p:cNvSpPr>
            <a:spLocks noGrp="1"/>
          </p:cNvSpPr>
          <p:nvPr/>
        </p:nvSpPr>
        <p:spPr>
          <a:xfrm>
            <a:off x="9715500" y="1905000"/>
            <a:ext cx="2000250" cy="57150"/>
          </a:xfrm>
          <a:prstGeom prst="rect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D38E2C-F46B-47C8-B644-943CF88F361C}"/>
              </a:ext>
            </a:extLst>
          </p:cNvPr>
          <p:cNvSpPr>
            <a:spLocks noGrp="1"/>
          </p:cNvSpPr>
          <p:nvPr/>
        </p:nvSpPr>
        <p:spPr>
          <a:xfrm>
            <a:off x="9858375" y="2095500"/>
            <a:ext cx="1714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BRAIN</a:t>
            </a:r>
          </a:p>
          <a:p>
            <a:pPr algn="ctr">
              <a:defRPr sz="105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+ VAULT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72B55E-63C7-44E1-9729-E224A386D38D}"/>
              </a:ext>
            </a:extLst>
          </p:cNvPr>
          <p:cNvSpPr>
            <a:spLocks noGrp="1"/>
          </p:cNvSpPr>
          <p:nvPr/>
        </p:nvSpPr>
        <p:spPr>
          <a:xfrm>
            <a:off x="9810750" y="2667000"/>
            <a:ext cx="18097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Semantic firewall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Approved context only</a:t>
            </a:r>
          </a:p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Path-safety enforced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244889-2542-4DF4-8085-2119DD9F89FB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10668000" cy="762000"/>
          </a:xfrm>
          <a:prstGeom prst="rect">
            <a:avLst/>
          </a:prstGeom>
          <a:solidFill>
            <a:srgbClr val="FFFBE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28AB67-0FC6-44A2-9E57-5BFDBAFC3539}"/>
              </a:ext>
            </a:extLst>
          </p:cNvPr>
          <p:cNvSpPr>
            <a:spLocks noGrp="1"/>
          </p:cNvSpPr>
          <p:nvPr/>
        </p:nvSpPr>
        <p:spPr>
          <a:xfrm>
            <a:off x="1047750" y="4810125"/>
            <a:ext cx="1009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2400E"/>
                </a:solidFill>
                <a:latin typeface="Aptos"/>
                <a:ea typeface="Aptos"/>
                <a:cs typeface="Aptos"/>
              </a:rPr>
              <a:t>Core Principle: Schema validation, signatures, trust policy, vault path checks, model routing policy, egress filters, approvals, and audit logs must surround any model or tool call. The model is sandboxed — not trusted.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3124DF-A04A-4EB9-BADF-3A1318081DEB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666750"/>
          </a:xfrm>
          <a:prstGeom prst="rect">
            <a:avLst/>
          </a:prstGeom>
          <a:solidFill>
            <a:srgbClr val="EE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FB9E90-4632-4B9A-B159-4EC2410331E5}"/>
              </a:ext>
            </a:extLst>
          </p:cNvPr>
          <p:cNvSpPr>
            <a:spLocks noGrp="1"/>
          </p:cNvSpPr>
          <p:nvPr/>
        </p:nvSpPr>
        <p:spPr>
          <a:xfrm>
            <a:off x="1047750" y="5857875"/>
            <a:ext cx="504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Every operation produces an audit event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DAA48F-4062-4832-8971-340CA8F33507}"/>
              </a:ext>
            </a:extLst>
          </p:cNvPr>
          <p:cNvSpPr>
            <a:spLocks noGrp="1"/>
          </p:cNvSpPr>
          <p:nvPr/>
        </p:nvSpPr>
        <p:spPr>
          <a:xfrm>
            <a:off x="1047750" y="6143625"/>
            <a:ext cx="5048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JSONL audit with correlation IDs stitching multi-peer flows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C55820-C0E7-4D39-A370-49DF36CC1B53}"/>
              </a:ext>
            </a:extLst>
          </p:cNvPr>
          <p:cNvSpPr>
            <a:spLocks noGrp="1"/>
          </p:cNvSpPr>
          <p:nvPr/>
        </p:nvSpPr>
        <p:spPr>
          <a:xfrm>
            <a:off x="6191250" y="5857875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Canonical JSON signing for determinism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01E0C6-5431-432C-84AE-D8302C06FC57}"/>
              </a:ext>
            </a:extLst>
          </p:cNvPr>
          <p:cNvSpPr>
            <a:spLocks noGrp="1"/>
          </p:cNvSpPr>
          <p:nvPr/>
        </p:nvSpPr>
        <p:spPr>
          <a:xfrm>
            <a:off x="6191250" y="6143625"/>
            <a:ext cx="4953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Sorted keys, no undefined values — deterministic serialization</a:t>
            </a:r>
          </a:p>
        </p:txBody>
      </p:sp>
    </p:spTree>
    <p:extLst>
      <p:ext uri="{BB962C8B-B14F-4D97-AF65-F5344CB8AC3E}">
        <p14:creationId xmlns:p14="http://schemas.microsoft.com/office/powerpoint/2010/main" val="109346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2B72460-A0A6-4F47-8FD1-65F633BB27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033D43-43C5-4FB9-8D2E-688B2AEFAA4A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A15EFA-6BC7-43D4-8585-ACB8D0A12A49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6667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Display"/>
                <a:ea typeface="Aptos Display"/>
                <a:cs typeface="Aptos Display"/>
              </a:rPr>
              <a:t>Three-tier cryptographic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A77923-AB4D-45F8-B108-CDFEF8B5B2B3}"/>
              </a:ext>
            </a:extLst>
          </p:cNvPr>
          <p:cNvSpPr>
            <a:spLocks noGrp="1"/>
          </p:cNvSpPr>
          <p:nvPr/>
        </p:nvSpPr>
        <p:spPr>
          <a:xfrm>
            <a:off x="762000" y="1238250"/>
            <a:ext cx="571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Self-sovereign. Verifiable. No central account server required.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1F3FD-FC37-477D-A80A-A762BA1843C4}"/>
              </a:ext>
            </a:extLst>
          </p:cNvPr>
          <p:cNvSpPr>
            <a:spLocks noGrp="1"/>
          </p:cNvSpPr>
          <p:nvPr/>
        </p:nvSpPr>
        <p:spPr>
          <a:xfrm>
            <a:off x="4667250" y="1809750"/>
            <a:ext cx="2857500" cy="76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CA3D2C-9F60-4638-A2E9-0049FE896A1B}"/>
              </a:ext>
            </a:extLst>
          </p:cNvPr>
          <p:cNvSpPr>
            <a:spLocks noGrp="1"/>
          </p:cNvSpPr>
          <p:nvPr/>
        </p:nvSpPr>
        <p:spPr>
          <a:xfrm>
            <a:off x="4857750" y="18669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10D83-1954-472C-B9D5-34159D6C2670}"/>
              </a:ext>
            </a:extLst>
          </p:cNvPr>
          <p:cNvSpPr>
            <a:spLocks noGrp="1"/>
          </p:cNvSpPr>
          <p:nvPr/>
        </p:nvSpPr>
        <p:spPr>
          <a:xfrm>
            <a:off x="4857750" y="215265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envoy:owner:&lt;sha256(pubkey)&gt;</a:t>
            </a:r>
          </a:p>
          <a:p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Long-lived human identity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CF8F88-DB5A-44FB-AF4B-03E565A67AF3}"/>
              </a:ext>
            </a:extLst>
          </p:cNvPr>
          <p:cNvSpPr>
            <a:spLocks noGrp="1"/>
          </p:cNvSpPr>
          <p:nvPr/>
        </p:nvSpPr>
        <p:spPr>
          <a:xfrm>
            <a:off x="5810250" y="2619375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36F247-7295-4451-ADE0-816488953758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signs certificates for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A168D6-D2E5-4591-B08E-60DD01ADC60B}"/>
              </a:ext>
            </a:extLst>
          </p:cNvPr>
          <p:cNvSpPr>
            <a:spLocks noGrp="1"/>
          </p:cNvSpPr>
          <p:nvPr/>
        </p:nvSpPr>
        <p:spPr>
          <a:xfrm>
            <a:off x="4667250" y="2952750"/>
            <a:ext cx="2857500" cy="76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9C123B-EC0C-4FE6-A25E-3505AD8C83D0}"/>
              </a:ext>
            </a:extLst>
          </p:cNvPr>
          <p:cNvSpPr>
            <a:spLocks noGrp="1"/>
          </p:cNvSpPr>
          <p:nvPr/>
        </p:nvSpPr>
        <p:spPr>
          <a:xfrm>
            <a:off x="4857750" y="30099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DEVICE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6D9766-A648-49E2-A5D4-F017D331E609}"/>
              </a:ext>
            </a:extLst>
          </p:cNvPr>
          <p:cNvSpPr>
            <a:spLocks noGrp="1"/>
          </p:cNvSpPr>
          <p:nvPr/>
        </p:nvSpPr>
        <p:spPr>
          <a:xfrm>
            <a:off x="4857750" y="329565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envoy:device:&lt;sha256(pubkey)&gt;</a:t>
            </a:r>
          </a:p>
          <a:p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Per-device key pair (laptop, phone, server)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EC3AEA-4678-4A99-BD75-CFF523C91EEC}"/>
              </a:ext>
            </a:extLst>
          </p:cNvPr>
          <p:cNvSpPr>
            <a:spLocks noGrp="1"/>
          </p:cNvSpPr>
          <p:nvPr/>
        </p:nvSpPr>
        <p:spPr>
          <a:xfrm>
            <a:off x="5810250" y="3762375"/>
            <a:ext cx="57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4ACA7F-65A6-4022-A11B-9EFE2D6C1BB3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signs mandate for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F8AE9C-B813-4ED0-AF11-9FE0EF9DAEAC}"/>
              </a:ext>
            </a:extLst>
          </p:cNvPr>
          <p:cNvSpPr>
            <a:spLocks noGrp="1"/>
          </p:cNvSpPr>
          <p:nvPr/>
        </p:nvSpPr>
        <p:spPr>
          <a:xfrm>
            <a:off x="4667250" y="4095750"/>
            <a:ext cx="2857500" cy="7620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1F432E-26EB-424E-AD92-B3E777BB0F48}"/>
              </a:ext>
            </a:extLst>
          </p:cNvPr>
          <p:cNvSpPr>
            <a:spLocks noGrp="1"/>
          </p:cNvSpPr>
          <p:nvPr/>
        </p:nvSpPr>
        <p:spPr>
          <a:xfrm>
            <a:off x="4857750" y="41529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7CB9CD-0CA5-40B1-829C-880E36D471B9}"/>
              </a:ext>
            </a:extLst>
          </p:cNvPr>
          <p:cNvSpPr>
            <a:spLocks noGrp="1"/>
          </p:cNvSpPr>
          <p:nvPr/>
        </p:nvSpPr>
        <p:spPr>
          <a:xfrm>
            <a:off x="4857750" y="4438650"/>
            <a:ext cx="247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envoy:agent:&lt;sha256(ownerId + agent-pubkey)&gt;</a:t>
            </a:r>
          </a:p>
          <a:p>
            <a:pPr algn="ctr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AI agent authorized via owner-signed credential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F150E9-6783-4FA2-A11D-D4946E4692AA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3619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9F4F9F-31DB-44B6-86ED-8C718270EA1F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38100" cy="5524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69074C-4788-4C41-A696-639D1777A159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Agent has its own peer 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77842-2866-4208-98B6-557E3315EEB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Distinct from owner; derived from owner+agent keys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52A296-7908-46E1-8351-C3D9182A2AB9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3619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5FFD2D-F36C-42D6-817D-63BCF0784F4B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38100" cy="5524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AE54F5-121F-49A6-B013-DD75FCBE885F}"/>
              </a:ext>
            </a:extLst>
          </p:cNvPr>
          <p:cNvSpPr>
            <a:spLocks noGrp="1"/>
          </p:cNvSpPr>
          <p:nvPr/>
        </p:nvSpPr>
        <p:spPr>
          <a:xfrm>
            <a:off x="762000" y="25050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All agent actions signed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E94A2A-F22C-48EC-92DE-B6F6DC1299FE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Agent's Ed25519 key + owner-signed credential in every envelope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923B5B-3562-453A-AC7F-1A1A760006FE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3619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A74549-6AA5-4B73-9715-26D179DA2DF4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38100" cy="5524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AF682C-7F7F-4D3A-9761-7CBF8BEE0806}"/>
              </a:ext>
            </a:extLst>
          </p:cNvPr>
          <p:cNvSpPr>
            <a:spLocks noGrp="1"/>
          </p:cNvSpPr>
          <p:nvPr/>
        </p:nvSpPr>
        <p:spPr>
          <a:xfrm>
            <a:off x="762000" y="31527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Peers verify agent→owner linkage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66E2F6-3B13-4084-A34C-2E786C128676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verifyAgentEnvelope() checks signature, credential, scope, expiry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E2126C-6735-47BE-8FA1-BC3886DF8584}"/>
              </a:ext>
            </a:extLst>
          </p:cNvPr>
          <p:cNvSpPr>
            <a:spLocks noGrp="1"/>
          </p:cNvSpPr>
          <p:nvPr/>
        </p:nvSpPr>
        <p:spPr>
          <a:xfrm>
            <a:off x="571500" y="3752850"/>
            <a:ext cx="3619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77108-9FC8-48BC-89AE-418FCF1AAE6A}"/>
              </a:ext>
            </a:extLst>
          </p:cNvPr>
          <p:cNvSpPr>
            <a:spLocks noGrp="1"/>
          </p:cNvSpPr>
          <p:nvPr/>
        </p:nvSpPr>
        <p:spPr>
          <a:xfrm>
            <a:off x="571500" y="3752850"/>
            <a:ext cx="38100" cy="55245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ADA7E1-7FA6-4AAE-A6F6-EE702881D64F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Multi-device shared identity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4D1E52-F4D0-426A-BBA0-9931397FC233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Mobile imports owner key via QR → same ownerId across all devices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B7568C-CB8A-4FFB-A5A2-32C612ACFFB0}"/>
              </a:ext>
            </a:extLst>
          </p:cNvPr>
          <p:cNvSpPr>
            <a:spLocks noGrp="1"/>
          </p:cNvSpPr>
          <p:nvPr/>
        </p:nvSpPr>
        <p:spPr>
          <a:xfrm>
            <a:off x="571500" y="4400550"/>
            <a:ext cx="3619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FC3BAD8-5E27-4989-AB4F-31B07C3E9AD2}"/>
              </a:ext>
            </a:extLst>
          </p:cNvPr>
          <p:cNvSpPr>
            <a:spLocks noGrp="1"/>
          </p:cNvSpPr>
          <p:nvPr/>
        </p:nvSpPr>
        <p:spPr>
          <a:xfrm>
            <a:off x="571500" y="4400550"/>
            <a:ext cx="38100" cy="55245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B1D3E0-7B6E-4051-92DF-21D65F1C455F}"/>
              </a:ext>
            </a:extLst>
          </p:cNvPr>
          <p:cNvSpPr>
            <a:spLocks noGrp="1"/>
          </p:cNvSpPr>
          <p:nvPr/>
        </p:nvSpPr>
        <p:spPr>
          <a:xfrm>
            <a:off x="762000" y="44481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Revocable per device / per agent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E5AB15-7B31-45E3-B28D-9F332B8B2B3E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Revoke device certificate or agent credential without changing owner key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6A73B3-F379-4D9F-A22E-CD29443B77EC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429000" cy="3048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266E9E-CB88-46CA-9940-7715F54FD8B4}"/>
              </a:ext>
            </a:extLst>
          </p:cNvPr>
          <p:cNvSpPr>
            <a:spLocks noGrp="1"/>
          </p:cNvSpPr>
          <p:nvPr/>
        </p:nvSpPr>
        <p:spPr>
          <a:xfrm>
            <a:off x="8382000" y="1905000"/>
            <a:ext cx="3048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SIGNED ENVELOPE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B4A4788-B956-4117-82EF-B54EFD1E9730}"/>
              </a:ext>
            </a:extLst>
          </p:cNvPr>
          <p:cNvSpPr>
            <a:spLocks noGrp="1"/>
          </p:cNvSpPr>
          <p:nvPr/>
        </p:nvSpPr>
        <p:spPr>
          <a:xfrm>
            <a:off x="8382000" y="22383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version: "0.1"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1746889-096B-49C1-A445-D7B04C73921E}"/>
              </a:ext>
            </a:extLst>
          </p:cNvPr>
          <p:cNvSpPr>
            <a:spLocks noGrp="1"/>
          </p:cNvSpPr>
          <p:nvPr/>
        </p:nvSpPr>
        <p:spPr>
          <a:xfrm>
            <a:off x="8382000" y="25050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messageId + correlationId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B4DF11-6830-4D0D-B4C9-6A773B29E163}"/>
              </a:ext>
            </a:extLst>
          </p:cNvPr>
          <p:cNvSpPr>
            <a:spLocks noGrp="1"/>
          </p:cNvSpPr>
          <p:nvPr/>
        </p:nvSpPr>
        <p:spPr>
          <a:xfrm>
            <a:off x="8382000" y="27717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senderPeerId + senderPublicKey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907644-C971-44BC-A7BA-512416151A50}"/>
              </a:ext>
            </a:extLst>
          </p:cNvPr>
          <p:cNvSpPr>
            <a:spLocks noGrp="1"/>
          </p:cNvSpPr>
          <p:nvPr/>
        </p:nvSpPr>
        <p:spPr>
          <a:xfrm>
            <a:off x="8382000" y="30384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senderRole (human|agent|system)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810468-43A6-4289-83FE-85A225180241}"/>
              </a:ext>
            </a:extLst>
          </p:cNvPr>
          <p:cNvSpPr>
            <a:spLocks noGrp="1"/>
          </p:cNvSpPr>
          <p:nvPr/>
        </p:nvSpPr>
        <p:spPr>
          <a:xfrm>
            <a:off x="8382000" y="33051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recipientPeerId + recipientRole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8C0328-DF33-41F3-A970-E7C1172E7F2D}"/>
              </a:ext>
            </a:extLst>
          </p:cNvPr>
          <p:cNvSpPr>
            <a:spLocks noGrp="1"/>
          </p:cNvSpPr>
          <p:nvPr/>
        </p:nvSpPr>
        <p:spPr>
          <a:xfrm>
            <a:off x="8382000" y="35718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intent (54 typed intents)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65BDD7-2F3E-42CB-9953-2F3F665AFCDE}"/>
              </a:ext>
            </a:extLst>
          </p:cNvPr>
          <p:cNvSpPr>
            <a:spLocks noGrp="1"/>
          </p:cNvSpPr>
          <p:nvPr/>
        </p:nvSpPr>
        <p:spPr>
          <a:xfrm>
            <a:off x="8382000" y="38385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payload (Zod-validated)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AB65CCA-0CF6-47E8-BB5C-1D52C1AC4B36}"/>
              </a:ext>
            </a:extLst>
          </p:cNvPr>
          <p:cNvSpPr>
            <a:spLocks noGrp="1"/>
          </p:cNvSpPr>
          <p:nvPr/>
        </p:nvSpPr>
        <p:spPr>
          <a:xfrm>
            <a:off x="8382000" y="41052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agentCredential (if agent)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3DBE9D0-1345-4F61-A234-8183B5879D85}"/>
              </a:ext>
            </a:extLst>
          </p:cNvPr>
          <p:cNvSpPr>
            <a:spLocks noGrp="1"/>
          </p:cNvSpPr>
          <p:nvPr/>
        </p:nvSpPr>
        <p:spPr>
          <a:xfrm>
            <a:off x="8382000" y="4371975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signature (Ed25519 over all above)</a:t>
            </a:r>
          </a:p>
        </p:txBody>
      </p:sp>
    </p:spTree>
    <p:extLst>
      <p:ext uri="{BB962C8B-B14F-4D97-AF65-F5344CB8AC3E}">
        <p14:creationId xmlns:p14="http://schemas.microsoft.com/office/powerpoint/2010/main" val="27183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E595EB86-A3C8-47E7-8F8A-D766D1DB86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2E823-C4A2-411E-89B5-17FECBAB3F42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C60417-D68B-4B09-AEE6-14BE1A567072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6667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54 typed intents with Zod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B15E4E-9445-47FB-BA5D-D6485F6678A0}"/>
              </a:ext>
            </a:extLst>
          </p:cNvPr>
          <p:cNvSpPr>
            <a:spLocks noGrp="1"/>
          </p:cNvSpPr>
          <p:nvPr/>
        </p:nvSpPr>
        <p:spPr>
          <a:xfrm>
            <a:off x="381000" y="1524000"/>
            <a:ext cx="3619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DC77E-F23E-459D-9AA5-D1FD6FA43A12}"/>
              </a:ext>
            </a:extLst>
          </p:cNvPr>
          <p:cNvSpPr>
            <a:spLocks noGrp="1"/>
          </p:cNvSpPr>
          <p:nvPr/>
        </p:nvSpPr>
        <p:spPr>
          <a:xfrm>
            <a:off x="381000" y="1524000"/>
            <a:ext cx="3619500" cy="3810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E82934-6BB7-4124-8799-EB27D7317142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System &amp; Auth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D505D-A6F6-4322-BBC5-948F489F88BA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system.ping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644AF-16B5-44C1-944F-F5B21CE943D0}"/>
              </a:ext>
            </a:extLst>
          </p:cNvPr>
          <p:cNvSpPr>
            <a:spLocks noGrp="1"/>
          </p:cNvSpPr>
          <p:nvPr/>
        </p:nvSpPr>
        <p:spPr>
          <a:xfrm>
            <a:off x="571500" y="22098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system.signal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E3BAD-0273-405D-B941-9281F3611440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auth.challenge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00CB2A-FAFA-42FF-8C37-55DF2F8A34D3}"/>
              </a:ext>
            </a:extLst>
          </p:cNvPr>
          <p:cNvSpPr>
            <a:spLocks noGrp="1"/>
          </p:cNvSpPr>
          <p:nvPr/>
        </p:nvSpPr>
        <p:spPr>
          <a:xfrm>
            <a:off x="571500" y="27432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auth.challenge.response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298702-33CA-41D5-B5AF-CCD8D99E08F0}"/>
              </a:ext>
            </a:extLst>
          </p:cNvPr>
          <p:cNvSpPr>
            <a:spLocks noGrp="1"/>
          </p:cNvSpPr>
          <p:nvPr/>
        </p:nvSpPr>
        <p:spPr>
          <a:xfrm>
            <a:off x="381000" y="3095625"/>
            <a:ext cx="3619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222699-854E-404F-9406-98459396B05A}"/>
              </a:ext>
            </a:extLst>
          </p:cNvPr>
          <p:cNvSpPr>
            <a:spLocks noGrp="1"/>
          </p:cNvSpPr>
          <p:nvPr/>
        </p:nvSpPr>
        <p:spPr>
          <a:xfrm>
            <a:off x="381000" y="3095625"/>
            <a:ext cx="3619500" cy="38100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548309-2C14-44C7-91C4-CC0C2E030B5D}"/>
              </a:ext>
            </a:extLst>
          </p:cNvPr>
          <p:cNvSpPr>
            <a:spLocks noGrp="1"/>
          </p:cNvSpPr>
          <p:nvPr/>
        </p:nvSpPr>
        <p:spPr>
          <a:xfrm>
            <a:off x="571500" y="32099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Bond &amp; Trust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69657D-C67C-4F16-BAF3-C1A486F2FDE8}"/>
              </a:ext>
            </a:extLst>
          </p:cNvPr>
          <p:cNvSpPr>
            <a:spLocks noGrp="1"/>
          </p:cNvSpPr>
          <p:nvPr/>
        </p:nvSpPr>
        <p:spPr>
          <a:xfrm>
            <a:off x="571500" y="35147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bond.request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1E991A-AEFF-4E5F-8A97-C203F08C0764}"/>
              </a:ext>
            </a:extLst>
          </p:cNvPr>
          <p:cNvSpPr>
            <a:spLocks noGrp="1"/>
          </p:cNvSpPr>
          <p:nvPr/>
        </p:nvSpPr>
        <p:spPr>
          <a:xfrm>
            <a:off x="571500" y="37814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bond.accept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A75719-54D6-4103-82DA-9C8B17D79375}"/>
              </a:ext>
            </a:extLst>
          </p:cNvPr>
          <p:cNvSpPr>
            <a:spLocks noGrp="1"/>
          </p:cNvSpPr>
          <p:nvPr/>
        </p:nvSpPr>
        <p:spPr>
          <a:xfrm>
            <a:off x="571500" y="40481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bond.challenge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D4E6E0-AB62-48F0-A381-7E414A725084}"/>
              </a:ext>
            </a:extLst>
          </p:cNvPr>
          <p:cNvSpPr>
            <a:spLocks noGrp="1"/>
          </p:cNvSpPr>
          <p:nvPr/>
        </p:nvSpPr>
        <p:spPr>
          <a:xfrm>
            <a:off x="571500" y="43148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bond.challenge.response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83FE4B-65DD-4956-A0C8-3CED83FC4059}"/>
              </a:ext>
            </a:extLst>
          </p:cNvPr>
          <p:cNvSpPr>
            <a:spLocks noGrp="1"/>
          </p:cNvSpPr>
          <p:nvPr/>
        </p:nvSpPr>
        <p:spPr>
          <a:xfrm>
            <a:off x="381000" y="4667250"/>
            <a:ext cx="3619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6D2398-BEB4-469A-8C1E-A511CAD9E8E5}"/>
              </a:ext>
            </a:extLst>
          </p:cNvPr>
          <p:cNvSpPr>
            <a:spLocks noGrp="1"/>
          </p:cNvSpPr>
          <p:nvPr/>
        </p:nvSpPr>
        <p:spPr>
          <a:xfrm>
            <a:off x="381000" y="4667250"/>
            <a:ext cx="3619500" cy="38100"/>
          </a:xfrm>
          <a:prstGeom prst="rect">
            <a:avLst/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A16566-7F63-4761-B6DD-1E4CA52CB30E}"/>
              </a:ext>
            </a:extLst>
          </p:cNvPr>
          <p:cNvSpPr>
            <a:spLocks noGrp="1"/>
          </p:cNvSpPr>
          <p:nvPr/>
        </p:nvSpPr>
        <p:spPr>
          <a:xfrm>
            <a:off x="571500" y="47815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Chat &amp; Knowledge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00451D-8FF1-4987-85D4-8C1E69856D6C}"/>
              </a:ext>
            </a:extLst>
          </p:cNvPr>
          <p:cNvSpPr>
            <a:spLocks noGrp="1"/>
          </p:cNvSpPr>
          <p:nvPr/>
        </p:nvSpPr>
        <p:spPr>
          <a:xfrm>
            <a:off x="571500" y="50863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chat.message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B3C7E8-EE6D-44DF-92E3-22B62311FC68}"/>
              </a:ext>
            </a:extLst>
          </p:cNvPr>
          <p:cNvSpPr>
            <a:spLocks noGrp="1"/>
          </p:cNvSpPr>
          <p:nvPr/>
        </p:nvSpPr>
        <p:spPr>
          <a:xfrm>
            <a:off x="571500" y="53530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knowledge.query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817A3B-D300-4B56-9330-21023A48970A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knowledge.response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D37CCD-6382-46C9-A9D5-5C7526C37E77}"/>
              </a:ext>
            </a:extLst>
          </p:cNvPr>
          <p:cNvSpPr>
            <a:spLocks noGrp="1"/>
          </p:cNvSpPr>
          <p:nvPr/>
        </p:nvSpPr>
        <p:spPr>
          <a:xfrm>
            <a:off x="4286250" y="1524000"/>
            <a:ext cx="3619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373862-CAF5-4716-BC42-7AA34DC2C0D7}"/>
              </a:ext>
            </a:extLst>
          </p:cNvPr>
          <p:cNvSpPr>
            <a:spLocks noGrp="1"/>
          </p:cNvSpPr>
          <p:nvPr/>
        </p:nvSpPr>
        <p:spPr>
          <a:xfrm>
            <a:off x="4286250" y="1524000"/>
            <a:ext cx="3619500" cy="38100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4A17C0-5817-4F51-8491-3FD73E4DA24B}"/>
              </a:ext>
            </a:extLst>
          </p:cNvPr>
          <p:cNvSpPr>
            <a:spLocks noGrp="1"/>
          </p:cNvSpPr>
          <p:nvPr/>
        </p:nvSpPr>
        <p:spPr>
          <a:xfrm>
            <a:off x="4476750" y="16383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A855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855F7"/>
                </a:solidFill>
                <a:latin typeface="Aptos"/>
                <a:ea typeface="Aptos"/>
                <a:cs typeface="Aptos"/>
              </a:rPr>
              <a:t>Task Lifecycle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5A2FA7-BD0F-45CF-8332-299AA99C09F8}"/>
              </a:ext>
            </a:extLst>
          </p:cNvPr>
          <p:cNvSpPr>
            <a:spLocks noGrp="1"/>
          </p:cNvSpPr>
          <p:nvPr/>
        </p:nvSpPr>
        <p:spPr>
          <a:xfrm>
            <a:off x="4476750" y="19431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task.mandate → propose → negotiate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4184EE-3EE9-462F-8049-C00806030F96}"/>
              </a:ext>
            </a:extLst>
          </p:cNvPr>
          <p:cNvSpPr>
            <a:spLocks noGrp="1"/>
          </p:cNvSpPr>
          <p:nvPr/>
        </p:nvSpPr>
        <p:spPr>
          <a:xfrm>
            <a:off x="4476750" y="22098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→ accept → reject → cancel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4F5ED0-AA78-454B-BAE5-5D2DBA737B72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→ heartbeat → result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CE65D-C6E9-45B4-9666-DB529C0A9881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report.create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73D509-BA57-4CB1-8C19-B54148F6027F}"/>
              </a:ext>
            </a:extLst>
          </p:cNvPr>
          <p:cNvSpPr>
            <a:spLocks noGrp="1"/>
          </p:cNvSpPr>
          <p:nvPr/>
        </p:nvSpPr>
        <p:spPr>
          <a:xfrm>
            <a:off x="4286250" y="3095625"/>
            <a:ext cx="3619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D64396-E28C-4954-B491-A84DF0E3DD44}"/>
              </a:ext>
            </a:extLst>
          </p:cNvPr>
          <p:cNvSpPr>
            <a:spLocks noGrp="1"/>
          </p:cNvSpPr>
          <p:nvPr/>
        </p:nvSpPr>
        <p:spPr>
          <a:xfrm>
            <a:off x="4286250" y="3095625"/>
            <a:ext cx="3619500" cy="38100"/>
          </a:xfrm>
          <a:prstGeom prst="rect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A37BC8-1FF7-4ED7-9B17-309385E8CB7E}"/>
              </a:ext>
            </a:extLst>
          </p:cNvPr>
          <p:cNvSpPr>
            <a:spLocks noGrp="1"/>
          </p:cNvSpPr>
          <p:nvPr/>
        </p:nvSpPr>
        <p:spPr>
          <a:xfrm>
            <a:off x="4476750" y="32099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Discovery &amp; Relay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37C640-6FE7-4D64-8910-5C1AF841CA04}"/>
              </a:ext>
            </a:extLst>
          </p:cNvPr>
          <p:cNvSpPr>
            <a:spLocks noGrp="1"/>
          </p:cNvSpPr>
          <p:nvPr/>
        </p:nvSpPr>
        <p:spPr>
          <a:xfrm>
            <a:off x="4476750" y="35147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discovery.request / response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CAFE10-EDBC-4932-9F2C-9BE4747AAF03}"/>
              </a:ext>
            </a:extLst>
          </p:cNvPr>
          <p:cNvSpPr>
            <a:spLocks noGrp="1"/>
          </p:cNvSpPr>
          <p:nvPr/>
        </p:nvSpPr>
        <p:spPr>
          <a:xfrm>
            <a:off x="4476750" y="37814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agent.card.request / response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02E407-3DD1-4C1C-A7A0-5EAEC4B534BF}"/>
              </a:ext>
            </a:extLst>
          </p:cNvPr>
          <p:cNvSpPr>
            <a:spLocks noGrp="1"/>
          </p:cNvSpPr>
          <p:nvPr/>
        </p:nvSpPr>
        <p:spPr>
          <a:xfrm>
            <a:off x="4476750" y="40481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relay.checkin / lookup / join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38FD0C-2614-448B-9602-51D5E5C7B307}"/>
              </a:ext>
            </a:extLst>
          </p:cNvPr>
          <p:cNvSpPr>
            <a:spLocks noGrp="1"/>
          </p:cNvSpPr>
          <p:nvPr/>
        </p:nvSpPr>
        <p:spPr>
          <a:xfrm>
            <a:off x="4476750" y="43148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relay.hints / register / summary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56F95E-A5CE-4EDD-B81E-9DAD7D8D9AB0}"/>
              </a:ext>
            </a:extLst>
          </p:cNvPr>
          <p:cNvSpPr>
            <a:spLocks noGrp="1"/>
          </p:cNvSpPr>
          <p:nvPr/>
        </p:nvSpPr>
        <p:spPr>
          <a:xfrm>
            <a:off x="4286250" y="4667250"/>
            <a:ext cx="3619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5159197-8510-477B-8782-6FAFCFC33B5A}"/>
              </a:ext>
            </a:extLst>
          </p:cNvPr>
          <p:cNvSpPr>
            <a:spLocks noGrp="1"/>
          </p:cNvSpPr>
          <p:nvPr/>
        </p:nvSpPr>
        <p:spPr>
          <a:xfrm>
            <a:off x="4286250" y="4667250"/>
            <a:ext cx="3619500" cy="38100"/>
          </a:xfrm>
          <a:prstGeom prst="rect">
            <a:avLst/>
          </a:prstGeom>
          <a:solidFill>
            <a:srgbClr val="F43F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05C73C2-6850-4798-8CD7-61F68442836B}"/>
              </a:ext>
            </a:extLst>
          </p:cNvPr>
          <p:cNvSpPr>
            <a:spLocks noGrp="1"/>
          </p:cNvSpPr>
          <p:nvPr/>
        </p:nvSpPr>
        <p:spPr>
          <a:xfrm>
            <a:off x="4476750" y="47815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43F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3F5E"/>
                </a:solidFill>
                <a:latin typeface="Aptos"/>
                <a:ea typeface="Aptos"/>
                <a:cs typeface="Aptos"/>
              </a:rPr>
              <a:t>Share &amp; Social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A4992A-C22C-455C-861A-A51A945FF128}"/>
              </a:ext>
            </a:extLst>
          </p:cNvPr>
          <p:cNvSpPr>
            <a:spLocks noGrp="1"/>
          </p:cNvSpPr>
          <p:nvPr/>
        </p:nvSpPr>
        <p:spPr>
          <a:xfrm>
            <a:off x="4476750" y="50863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share.preview / request / accept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55EC79-353F-4D9C-9572-27DCDA940196}"/>
              </a:ext>
            </a:extLst>
          </p:cNvPr>
          <p:cNvSpPr>
            <a:spLocks noGrp="1"/>
          </p:cNvSpPr>
          <p:nvPr/>
        </p:nvSpPr>
        <p:spPr>
          <a:xfrm>
            <a:off x="4476750" y="53530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social.intro.propose / sync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91FB65-4FFD-47B9-808D-F2C5D68D05AF}"/>
              </a:ext>
            </a:extLst>
          </p:cNvPr>
          <p:cNvSpPr>
            <a:spLocks noGrp="1"/>
          </p:cNvSpPr>
          <p:nvPr/>
        </p:nvSpPr>
        <p:spPr>
          <a:xfrm>
            <a:off x="4476750" y="56197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device.pair.request / approve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90D9ECB-329A-4126-B2E3-E42B2AFF904A}"/>
              </a:ext>
            </a:extLst>
          </p:cNvPr>
          <p:cNvSpPr>
            <a:spLocks noGrp="1"/>
          </p:cNvSpPr>
          <p:nvPr/>
        </p:nvSpPr>
        <p:spPr>
          <a:xfrm>
            <a:off x="4476750" y="58864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broadcast.request / cancel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D978303-ED2E-4401-86E4-FE81C1C94116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619500" cy="4619625"/>
          </a:xfrm>
          <a:prstGeom prst="rect">
            <a:avLst/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C48C4D-0F6A-4177-A034-121A6C354FE3}"/>
              </a:ext>
            </a:extLst>
          </p:cNvPr>
          <p:cNvSpPr>
            <a:spLocks noGrp="1"/>
          </p:cNvSpPr>
          <p:nvPr/>
        </p:nvSpPr>
        <p:spPr>
          <a:xfrm>
            <a:off x="8477250" y="17145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Protocol Properties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FC1450-6513-495B-9938-DE1A8E72EC6D}"/>
              </a:ext>
            </a:extLst>
          </p:cNvPr>
          <p:cNvSpPr>
            <a:spLocks noGrp="1"/>
          </p:cNvSpPr>
          <p:nvPr/>
        </p:nvSpPr>
        <p:spPr>
          <a:xfrm>
            <a:off x="8477250" y="2143125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Type-safe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4F8836-F40C-40DC-8D1A-ECB4BCD40AD9}"/>
              </a:ext>
            </a:extLst>
          </p:cNvPr>
          <p:cNvSpPr>
            <a:spLocks noGrp="1"/>
          </p:cNvSpPr>
          <p:nvPr/>
        </p:nvSpPr>
        <p:spPr>
          <a:xfrm>
            <a:off x="8477250" y="23717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 payload has: Zod schema → TypeScript type → parse* validator → create* constructor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75CA2AD-0ABA-4FC4-88F5-86C0691A6668}"/>
              </a:ext>
            </a:extLst>
          </p:cNvPr>
          <p:cNvSpPr>
            <a:spLocks noGrp="1"/>
          </p:cNvSpPr>
          <p:nvPr/>
        </p:nvSpPr>
        <p:spPr>
          <a:xfrm>
            <a:off x="8477250" y="2905125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Canonical signing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E61ACA-BA02-4A69-BA1A-DB8ACA11FF34}"/>
              </a:ext>
            </a:extLst>
          </p:cNvPr>
          <p:cNvSpPr>
            <a:spLocks noGrp="1"/>
          </p:cNvSpPr>
          <p:nvPr/>
        </p:nvSpPr>
        <p:spPr>
          <a:xfrm>
            <a:off x="8477250" y="31337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Sorted keys, no undefined values → deterministic JSON for Ed25519 signing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208403-AF3D-4C09-B9D1-84E56C336616}"/>
              </a:ext>
            </a:extLst>
          </p:cNvPr>
          <p:cNvSpPr>
            <a:spLocks noGrp="1"/>
          </p:cNvSpPr>
          <p:nvPr/>
        </p:nvSpPr>
        <p:spPr>
          <a:xfrm>
            <a:off x="8477250" y="3667125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Role enforcement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9A6D46-628A-44A6-9CF8-326D624D1FDC}"/>
              </a:ext>
            </a:extLst>
          </p:cNvPr>
          <p:cNvSpPr>
            <a:spLocks noGrp="1"/>
          </p:cNvSpPr>
          <p:nvPr/>
        </p:nvSpPr>
        <p:spPr>
          <a:xfrm>
            <a:off x="8477250" y="38957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chat.message requires senderRole=human; task.* requires senderRole=agent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344800E-EBDC-4D64-B949-E3BAE8419716}"/>
              </a:ext>
            </a:extLst>
          </p:cNvPr>
          <p:cNvSpPr>
            <a:spLocks noGrp="1"/>
          </p:cNvSpPr>
          <p:nvPr/>
        </p:nvSpPr>
        <p:spPr>
          <a:xfrm>
            <a:off x="8477250" y="4429125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Audit-first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0C102FD-1CEC-4BE0-A995-87ACD6DAD19F}"/>
              </a:ext>
            </a:extLst>
          </p:cNvPr>
          <p:cNvSpPr>
            <a:spLocks noGrp="1"/>
          </p:cNvSpPr>
          <p:nvPr/>
        </p:nvSpPr>
        <p:spPr>
          <a:xfrm>
            <a:off x="8477250" y="46577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createAuditEvent() for every operation — JSONL serialized with correlation IDs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5D8BC22-434A-4B51-8658-C81E4DABAF72}"/>
              </a:ext>
            </a:extLst>
          </p:cNvPr>
          <p:cNvSpPr>
            <a:spLocks noGrp="1"/>
          </p:cNvSpPr>
          <p:nvPr/>
        </p:nvSpPr>
        <p:spPr>
          <a:xfrm>
            <a:off x="8477250" y="5191125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Envelope-level agent auth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BDEF203-D656-45C6-83E7-C21525689FF1}"/>
              </a:ext>
            </a:extLst>
          </p:cNvPr>
          <p:cNvSpPr>
            <a:spLocks noGrp="1"/>
          </p:cNvSpPr>
          <p:nvPr/>
        </p:nvSpPr>
        <p:spPr>
          <a:xfrm>
            <a:off x="8477250" y="54197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 includes owner-signed AgentCredential in every envelope</a:t>
            </a:r>
          </a:p>
        </p:txBody>
      </p:sp>
    </p:spTree>
    <p:extLst>
      <p:ext uri="{BB962C8B-B14F-4D97-AF65-F5344CB8AC3E}">
        <p14:creationId xmlns:p14="http://schemas.microsoft.com/office/powerpoint/2010/main" val="84717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C87610C4-0F9A-4A5D-9451-9DAEF8F84E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305645-21A1-4F65-8321-390A11CB3EFC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AGENT CAPABILITIES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900736-47B2-447E-9B93-3C96E2290725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7620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Display"/>
                <a:ea typeface="Aptos Display"/>
                <a:cs typeface="Aptos Display"/>
              </a:rPr>
              <a:t>AI-Augmented Agent (Phase 9 — Shipped)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5C37FD-AA65-4FCB-8C1A-09F8C39AE75A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2762250" cy="1047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4386E4-2BC3-4200-BA17-9C2FED09AAC5}"/>
              </a:ext>
            </a:extLst>
          </p:cNvPr>
          <p:cNvSpPr>
            <a:spLocks noGrp="1"/>
          </p:cNvSpPr>
          <p:nvPr/>
        </p:nvSpPr>
        <p:spPr>
          <a:xfrm>
            <a:off x="523875" y="1504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🔑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8EB44-0DAE-44C8-90EA-1CCAB5069B70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Agent Identity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6ED2E9-92D7-4D6B-B3B4-AD71D39D0859}"/>
              </a:ext>
            </a:extLst>
          </p:cNvPr>
          <p:cNvSpPr>
            <a:spLocks noGrp="1"/>
          </p:cNvSpPr>
          <p:nvPr/>
        </p:nvSpPr>
        <p:spPr>
          <a:xfrm>
            <a:off x="523875" y="182880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Own peer ID, owner-signed credential, verifiable agent→owner linkage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8B6DA6-F236-4286-B939-81B117023E02}"/>
              </a:ext>
            </a:extLst>
          </p:cNvPr>
          <p:cNvSpPr>
            <a:spLocks noGrp="1"/>
          </p:cNvSpPr>
          <p:nvPr/>
        </p:nvSpPr>
        <p:spPr>
          <a:xfrm>
            <a:off x="3333750" y="1428750"/>
            <a:ext cx="2762250" cy="1047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C1F9C3-41F8-4CC3-B7DC-AF33B547F129}"/>
              </a:ext>
            </a:extLst>
          </p:cNvPr>
          <p:cNvSpPr>
            <a:spLocks noGrp="1"/>
          </p:cNvSpPr>
          <p:nvPr/>
        </p:nvSpPr>
        <p:spPr>
          <a:xfrm>
            <a:off x="3476625" y="1504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🛠️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8DD45E-63CA-4221-B09C-B9E9A0F886AB}"/>
              </a:ext>
            </a:extLst>
          </p:cNvPr>
          <p:cNvSpPr>
            <a:spLocks noGrp="1"/>
          </p:cNvSpPr>
          <p:nvPr/>
        </p:nvSpPr>
        <p:spPr>
          <a:xfrm>
            <a:off x="3810000" y="1524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Tool Registry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3BD77-0BB2-4170-9007-ACDC0A1B1082}"/>
              </a:ext>
            </a:extLst>
          </p:cNvPr>
          <p:cNvSpPr>
            <a:spLocks noGrp="1"/>
          </p:cNvSpPr>
          <p:nvPr/>
        </p:nvSpPr>
        <p:spPr>
          <a:xfrm>
            <a:off x="3476625" y="182880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90+ extensible tools: chat.send, knowledge.query, vault.search, bond.hello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59122B-6D45-4CC6-87DC-6E6CA00271ED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2762250" cy="1047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F3E4CE-657E-4338-AD5D-1D04B9378A62}"/>
              </a:ext>
            </a:extLst>
          </p:cNvPr>
          <p:cNvSpPr>
            <a:spLocks noGrp="1"/>
          </p:cNvSpPr>
          <p:nvPr/>
        </p:nvSpPr>
        <p:spPr>
          <a:xfrm>
            <a:off x="6429375" y="1504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998750-F008-4142-A168-21984C122754}"/>
              </a:ext>
            </a:extLst>
          </p:cNvPr>
          <p:cNvSpPr>
            <a:spLocks noGrp="1"/>
          </p:cNvSpPr>
          <p:nvPr/>
        </p:nvSpPr>
        <p:spPr>
          <a:xfrm>
            <a:off x="6762750" y="1524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Memory &amp; Context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36EF66-92C4-4B91-BFF0-D779402D369B}"/>
              </a:ext>
            </a:extLst>
          </p:cNvPr>
          <p:cNvSpPr>
            <a:spLocks noGrp="1"/>
          </p:cNvSpPr>
          <p:nvPr/>
        </p:nvSpPr>
        <p:spPr>
          <a:xfrm>
            <a:off x="6429375" y="182880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Conversation history, relationships, profile, vault, knowledge graph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6C7813-9994-4006-A2AB-899A9C8EF213}"/>
              </a:ext>
            </a:extLst>
          </p:cNvPr>
          <p:cNvSpPr>
            <a:spLocks noGrp="1"/>
          </p:cNvSpPr>
          <p:nvPr/>
        </p:nvSpPr>
        <p:spPr>
          <a:xfrm>
            <a:off x="9239250" y="1428750"/>
            <a:ext cx="2762250" cy="1047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80613C-AAAA-4CD6-BE4E-765E7DFEAC12}"/>
              </a:ext>
            </a:extLst>
          </p:cNvPr>
          <p:cNvSpPr>
            <a:spLocks noGrp="1"/>
          </p:cNvSpPr>
          <p:nvPr/>
        </p:nvSpPr>
        <p:spPr>
          <a:xfrm>
            <a:off x="9382125" y="15049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🎛️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0D0AFD-7500-4BFE-934E-400C7ADA6238}"/>
              </a:ext>
            </a:extLst>
          </p:cNvPr>
          <p:cNvSpPr>
            <a:spLocks noGrp="1"/>
          </p:cNvSpPr>
          <p:nvPr/>
        </p:nvSpPr>
        <p:spPr>
          <a:xfrm>
            <a:off x="9715500" y="1524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Mode Controller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1EC76C-3840-47BC-90E4-A6DB8F103472}"/>
              </a:ext>
            </a:extLst>
          </p:cNvPr>
          <p:cNvSpPr>
            <a:spLocks noGrp="1"/>
          </p:cNvSpPr>
          <p:nvPr/>
        </p:nvSpPr>
        <p:spPr>
          <a:xfrm>
            <a:off x="9382125" y="182880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Reactive (owner online) ↔ Proactive (owner offline), per-contact overrides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8C912E-5F23-4987-84EB-B60D56205D80}"/>
              </a:ext>
            </a:extLst>
          </p:cNvPr>
          <p:cNvSpPr>
            <a:spLocks noGrp="1"/>
          </p:cNvSpPr>
          <p:nvPr/>
        </p:nvSpPr>
        <p:spPr>
          <a:xfrm>
            <a:off x="381000" y="2667000"/>
            <a:ext cx="2762250" cy="1047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840B35-C863-4E8E-B37B-2B1348E809D5}"/>
              </a:ext>
            </a:extLst>
          </p:cNvPr>
          <p:cNvSpPr>
            <a:spLocks noGrp="1"/>
          </p:cNvSpPr>
          <p:nvPr/>
        </p:nvSpPr>
        <p:spPr>
          <a:xfrm>
            <a:off x="523875" y="274320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💬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0A4B36-06BC-45C7-81FB-FDFF466C943B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2A841A-52B0-484B-82FD-4F2D60E615CF}"/>
              </a:ext>
            </a:extLst>
          </p:cNvPr>
          <p:cNvSpPr>
            <a:spLocks noGrp="1"/>
          </p:cNvSpPr>
          <p:nvPr/>
        </p:nvSpPr>
        <p:spPr>
          <a:xfrm>
            <a:off x="523875" y="306705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One session per chat, summary-aware LLM calls with context injection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5B4065-F64F-4BA0-82E1-F755665931F8}"/>
              </a:ext>
            </a:extLst>
          </p:cNvPr>
          <p:cNvSpPr>
            <a:spLocks noGrp="1"/>
          </p:cNvSpPr>
          <p:nvPr/>
        </p:nvSpPr>
        <p:spPr>
          <a:xfrm>
            <a:off x="3333750" y="2667000"/>
            <a:ext cx="2762250" cy="1047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0C85FD-B667-499E-B47C-1F77D790477A}"/>
              </a:ext>
            </a:extLst>
          </p:cNvPr>
          <p:cNvSpPr>
            <a:spLocks noGrp="1"/>
          </p:cNvSpPr>
          <p:nvPr/>
        </p:nvSpPr>
        <p:spPr>
          <a:xfrm>
            <a:off x="3476625" y="274320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🎨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153F8A-EB8D-4D06-8E60-8013851DBB63}"/>
              </a:ext>
            </a:extLst>
          </p:cNvPr>
          <p:cNvSpPr>
            <a:spLocks noGrp="1"/>
          </p:cNvSpPr>
          <p:nvPr/>
        </p:nvSpPr>
        <p:spPr>
          <a:xfrm>
            <a:off x="3810000" y="2762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Style Adapter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9857B2-BC3F-485F-9041-D74078CE9CD0}"/>
              </a:ext>
            </a:extLst>
          </p:cNvPr>
          <p:cNvSpPr>
            <a:spLocks noGrp="1"/>
          </p:cNvSpPr>
          <p:nvPr/>
        </p:nvSpPr>
        <p:spPr>
          <a:xfrm>
            <a:off x="3476625" y="306705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Per-contact or global LLM response styles, system prompt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BF9B4E-F493-4E63-A745-FECB68B35E38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2762250" cy="1047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7FFE1E-9B36-4CB5-B212-ACD3682F3ED8}"/>
              </a:ext>
            </a:extLst>
          </p:cNvPr>
          <p:cNvSpPr>
            <a:spLocks noGrp="1"/>
          </p:cNvSpPr>
          <p:nvPr/>
        </p:nvSpPr>
        <p:spPr>
          <a:xfrm>
            <a:off x="6429375" y="274320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⏰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768E7A-8923-467A-8BBF-EDAF8D92904D}"/>
              </a:ext>
            </a:extLst>
          </p:cNvPr>
          <p:cNvSpPr>
            <a:spLocks noGrp="1"/>
          </p:cNvSpPr>
          <p:nvPr/>
        </p:nvSpPr>
        <p:spPr>
          <a:xfrm>
            <a:off x="6762750" y="2762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Triggers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89CB6E-3B89-438E-846C-3CF2F34D1D7C}"/>
              </a:ext>
            </a:extLst>
          </p:cNvPr>
          <p:cNvSpPr>
            <a:spLocks noGrp="1"/>
          </p:cNvSpPr>
          <p:nvPr/>
        </p:nvSpPr>
        <p:spPr>
          <a:xfrm>
            <a:off x="6429375" y="306705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Scheduled, event-driven, or manual triggers for proactive agent actions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F86D27-6B0B-49EB-94FA-72A3B82A4D78}"/>
              </a:ext>
            </a:extLst>
          </p:cNvPr>
          <p:cNvSpPr>
            <a:spLocks noGrp="1"/>
          </p:cNvSpPr>
          <p:nvPr/>
        </p:nvSpPr>
        <p:spPr>
          <a:xfrm>
            <a:off x="9239250" y="2667000"/>
            <a:ext cx="2762250" cy="1047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4127EE-5FC1-4D7E-B98F-2CB8C9BEA11F}"/>
              </a:ext>
            </a:extLst>
          </p:cNvPr>
          <p:cNvSpPr>
            <a:spLocks noGrp="1"/>
          </p:cNvSpPr>
          <p:nvPr/>
        </p:nvSpPr>
        <p:spPr>
          <a:xfrm>
            <a:off x="9382125" y="274320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E01EB1-C75B-4112-B246-DE71D691BA0A}"/>
              </a:ext>
            </a:extLst>
          </p:cNvPr>
          <p:cNvSpPr>
            <a:spLocks noGrp="1"/>
          </p:cNvSpPr>
          <p:nvPr/>
        </p:nvSpPr>
        <p:spPr>
          <a:xfrm>
            <a:off x="9715500" y="2762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1F5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F5F9"/>
                </a:solidFill>
                <a:latin typeface="Aptos"/>
                <a:ea typeface="Aptos"/>
                <a:cs typeface="Aptos"/>
              </a:rPr>
              <a:t>Approvals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AA3FD2-2959-4B2D-82ED-67BE5FD6BC47}"/>
              </a:ext>
            </a:extLst>
          </p:cNvPr>
          <p:cNvSpPr>
            <a:spLocks noGrp="1"/>
          </p:cNvSpPr>
          <p:nvPr/>
        </p:nvSpPr>
        <p:spPr>
          <a:xfrm>
            <a:off x="9382125" y="306705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Sensitive actions require human approval in reactive mode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C90879-D9CD-4CA1-A811-062EA0C34A19}"/>
              </a:ext>
            </a:extLst>
          </p:cNvPr>
          <p:cNvSpPr>
            <a:spLocks noGrp="1"/>
          </p:cNvSpPr>
          <p:nvPr/>
        </p:nvSpPr>
        <p:spPr>
          <a:xfrm>
            <a:off x="381000" y="4095750"/>
            <a:ext cx="11430000" cy="1238250"/>
          </a:xfrm>
          <a:prstGeom prst="rect">
            <a:avLst/>
          </a:prstGeom>
          <a:solidFill>
            <a:srgbClr val="1E29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6D6A0B-E0E0-48DA-8447-1634FC0DA042}"/>
              </a:ext>
            </a:extLst>
          </p:cNvPr>
          <p:cNvSpPr>
            <a:spLocks noGrp="1"/>
          </p:cNvSpPr>
          <p:nvPr/>
        </p:nvSpPr>
        <p:spPr>
          <a:xfrm>
            <a:off x="381000" y="4095750"/>
            <a:ext cx="11430000" cy="381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5C279E-7F50-4494-A985-4F4133B9A8E4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1085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🔗  External Agent Bridge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F942D9-7B55-4C5A-8440-14070F4CA13B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10858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OpenClaw / HomeClaw / Hermes → Bridge HTTP API → EnvoyMesh P2P Mesh. External agents become P2P peers without calling libp2p directly.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AE21B1-4A45-40F3-9882-7CBA8D3E7BED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2857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Digest Generator:  Proactive notification digests when agent is offline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3440DF-6482-4675-A552-CD1206AA1B36}"/>
              </a:ext>
            </a:extLst>
          </p:cNvPr>
          <p:cNvSpPr>
            <a:spLocks noGrp="1"/>
          </p:cNvSpPr>
          <p:nvPr/>
        </p:nvSpPr>
        <p:spPr>
          <a:xfrm>
            <a:off x="3810000" y="4953000"/>
            <a:ext cx="2857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Kill Switch:  Autonomous kill switch for safety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B9C9DB-9216-4DD2-A3C3-57A0E74B509D}"/>
              </a:ext>
            </a:extLst>
          </p:cNvPr>
          <p:cNvSpPr>
            <a:spLocks noGrp="1"/>
          </p:cNvSpPr>
          <p:nvPr/>
        </p:nvSpPr>
        <p:spPr>
          <a:xfrm>
            <a:off x="6953250" y="4953000"/>
            <a:ext cx="2857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Audit Trail:  Every tool call, mode change, and decision audited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68704B-DA07-4AF1-9593-A7C7A89E4B43}"/>
              </a:ext>
            </a:extLst>
          </p:cNvPr>
          <p:cNvSpPr>
            <a:spLocks noGrp="1"/>
          </p:cNvSpPr>
          <p:nvPr/>
        </p:nvSpPr>
        <p:spPr>
          <a:xfrm>
            <a:off x="381000" y="5572125"/>
            <a:ext cx="11430000" cy="100012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EDCC7D-E23C-4FCD-BBC1-FD6E3FF3DB26}"/>
              </a:ext>
            </a:extLst>
          </p:cNvPr>
          <p:cNvSpPr>
            <a:spLocks noGrp="1"/>
          </p:cNvSpPr>
          <p:nvPr/>
        </p:nvSpPr>
        <p:spPr>
          <a:xfrm>
            <a:off x="666750" y="5667375"/>
            <a:ext cx="10858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Agent Orchestration: Direct LLM answer · Vault search + RAG summarization · OpenClaw/HomeClaw tool calls · Task negotiation (propose→accept→result) · Human approval before sensitive actions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9286F0-0D49-4EFD-B56B-40A01F43E48E}"/>
              </a:ext>
            </a:extLst>
          </p:cNvPr>
          <p:cNvSpPr>
            <a:spLocks noGrp="1"/>
          </p:cNvSpPr>
          <p:nvPr/>
        </p:nvSpPr>
        <p:spPr>
          <a:xfrm>
            <a:off x="666750" y="6143625"/>
            <a:ext cx="1085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9 complete: Agent identity · Tool registry · Memory · Mode · Sessions · Style · Triggers · Approvals · Digest · External agents · P2P Bridge</a:t>
            </a:r>
          </a:p>
        </p:txBody>
      </p:sp>
    </p:spTree>
    <p:extLst>
      <p:ext uri="{BB962C8B-B14F-4D97-AF65-F5344CB8AC3E}">
        <p14:creationId xmlns:p14="http://schemas.microsoft.com/office/powerpoint/2010/main" val="9496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AE5BA95-8407-45CA-AFC4-730AAA5D6D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7A9604-52C7-44B0-850A-5803A6959C8D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C8D4E4-8AF2-4D34-94F0-34BEF5F31532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7620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Mobile as a full network node (Phase 11 — Shipped)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DF9484-480E-458A-9E9D-ED75DC7C755A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5524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A25AC-CE2F-43ED-91F7-E0A9EEC5BAFD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552450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A281E-261D-4F89-B071-7D14987C1C4E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5143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Capacitor WebView — Single JS Runtime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EDCE22-F354-4870-BDC0-0362E8BEAD9D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286000" cy="762000"/>
          </a:xfrm>
          <a:prstGeom prst="rect">
            <a:avLst/>
          </a:prstGeom>
          <a:solidFill>
            <a:srgbClr val="EEF2F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953C22-9533-403B-B864-E4E41B3A1E92}"/>
              </a:ext>
            </a:extLst>
          </p:cNvPr>
          <p:cNvSpPr>
            <a:spLocks noGrp="1"/>
          </p:cNvSpPr>
          <p:nvPr/>
        </p:nvSpPr>
        <p:spPr>
          <a:xfrm>
            <a:off x="952500" y="20764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Social UI (React SPA)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A8FE13-9DF1-4680-BF70-4AB0428F8EA3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Chat · Contacts · Search</a:t>
            </a:r>
          </a:p>
          <a:p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Profile · Settings · Inbox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16A91-4E57-47E1-AE48-F82936F98FAC}"/>
              </a:ext>
            </a:extLst>
          </p:cNvPr>
          <p:cNvSpPr>
            <a:spLocks noGrp="1"/>
          </p:cNvSpPr>
          <p:nvPr/>
        </p:nvSpPr>
        <p:spPr>
          <a:xfrm>
            <a:off x="3524250" y="2000250"/>
            <a:ext cx="2286000" cy="762000"/>
          </a:xfrm>
          <a:prstGeom prst="rect">
            <a:avLst/>
          </a:prstGeom>
          <a:solidFill>
            <a:srgbClr val="EEF2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59164D-9F54-415B-AA6B-4B31B7818508}"/>
              </a:ext>
            </a:extLst>
          </p:cNvPr>
          <p:cNvSpPr>
            <a:spLocks noGrp="1"/>
          </p:cNvSpPr>
          <p:nvPr/>
        </p:nvSpPr>
        <p:spPr>
          <a:xfrm>
            <a:off x="3619500" y="20764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MobileNode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64C7FC-F3CC-4C97-9CB0-52261B63B20D}"/>
              </a:ext>
            </a:extLst>
          </p:cNvPr>
          <p:cNvSpPr>
            <a:spLocks noGrp="1"/>
          </p:cNvSpPr>
          <p:nvPr/>
        </p:nvSpPr>
        <p:spPr>
          <a:xfrm>
            <a:off x="3619500" y="23812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@noble/curves Ed25519</a:t>
            </a:r>
          </a:p>
          <a:p>
            <a:pPr algn="ct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SQLite · relay WebSocket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46E220-7888-4A52-A0D3-C5431AC28766}"/>
              </a:ext>
            </a:extLst>
          </p:cNvPr>
          <p:cNvSpPr>
            <a:spLocks noGrp="1"/>
          </p:cNvSpPr>
          <p:nvPr/>
        </p:nvSpPr>
        <p:spPr>
          <a:xfrm>
            <a:off x="3067050" y="2238375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←→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1B152-5C15-457E-BBA4-FBFDF05FA592}"/>
              </a:ext>
            </a:extLst>
          </p:cNvPr>
          <p:cNvSpPr>
            <a:spLocks noGrp="1"/>
          </p:cNvSpPr>
          <p:nvPr/>
        </p:nvSpPr>
        <p:spPr>
          <a:xfrm>
            <a:off x="2762250" y="25717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818CF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18CF8"/>
                </a:solidFill>
                <a:latin typeface="Aptos Mono"/>
                <a:ea typeface="Aptos Mono"/>
                <a:cs typeface="Aptos Mono"/>
              </a:rPr>
              <a:t>DirectCallClient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3E3B20-AF8D-445A-B558-6DF83E777995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4953000" cy="11430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B42BF2-6E18-494B-8F0C-AA91FB9D709D}"/>
              </a:ext>
            </a:extLst>
          </p:cNvPr>
          <p:cNvSpPr>
            <a:spLocks noGrp="1"/>
          </p:cNvSpPr>
          <p:nvPr/>
        </p:nvSpPr>
        <p:spPr>
          <a:xfrm>
            <a:off x="1047750" y="30480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Storage &amp; Persistence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07AD00-7FD5-4E06-9529-AF5C4B4FF278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SQLite:  peer directory, trust store, chat log, identity state, session tokens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7C7857-121F-444C-A38D-F5AA38B6A1B5}"/>
              </a:ext>
            </a:extLst>
          </p:cNvPr>
          <p:cNvSpPr>
            <a:spLocks noGrp="1"/>
          </p:cNvSpPr>
          <p:nvPr/>
        </p:nvSpPr>
        <p:spPr>
          <a:xfrm>
            <a:off x="1047750" y="352425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Capacitor Filesystem:  vault indexing and retrieval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13420E-C526-44E4-81F9-6FE08468BCAE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SecureStorage:  private keys in iOS Keychain / Android Keystore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990CAA-913F-4057-BBED-3B35074EEB17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All with in-memory fallback for browser dev mode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99F1B3-D967-47DE-8434-E6DFD2141C41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5429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DCBBCC-AFC2-4644-BF60-C781B11B4B0E}"/>
              </a:ext>
            </a:extLst>
          </p:cNvPr>
          <p:cNvSpPr>
            <a:spLocks noGrp="1"/>
          </p:cNvSpPr>
          <p:nvPr/>
        </p:nvSpPr>
        <p:spPr>
          <a:xfrm>
            <a:off x="6572250" y="1533525"/>
            <a:ext cx="504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In-Process Architecture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426C54-4E99-4ADE-8246-44F0C4C25BEE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504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Social UI + Node share one WebView thread — no WebSocket, no JSON-RPC, no child process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C34C9A-B293-4092-9B1B-74943A2084E9}"/>
              </a:ext>
            </a:extLst>
          </p:cNvPr>
          <p:cNvSpPr>
            <a:spLocks noGrp="1"/>
          </p:cNvSpPr>
          <p:nvPr/>
        </p:nvSpPr>
        <p:spPr>
          <a:xfrm>
            <a:off x="6381750" y="2162175"/>
            <a:ext cx="5429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7D5CBA-C864-4871-A443-8A01C2BAE54D}"/>
              </a:ext>
            </a:extLst>
          </p:cNvPr>
          <p:cNvSpPr>
            <a:spLocks noGrp="1"/>
          </p:cNvSpPr>
          <p:nvPr/>
        </p:nvSpPr>
        <p:spPr>
          <a:xfrm>
            <a:off x="6572250" y="2219325"/>
            <a:ext cx="504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DirectCallClient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44F26C-04CD-48BA-BA4F-12D42A4D23B6}"/>
              </a:ext>
            </a:extLst>
          </p:cNvPr>
          <p:cNvSpPr>
            <a:spLocks noGrp="1"/>
          </p:cNvSpPr>
          <p:nvPr/>
        </p:nvSpPr>
        <p:spPr>
          <a:xfrm>
            <a:off x="6572250" y="2447925"/>
            <a:ext cx="504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Calls NodeService methods directly — JS function calls instead of WebSocket messages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09DA8B-5F07-4BA8-9F3A-6375B22AF502}"/>
              </a:ext>
            </a:extLst>
          </p:cNvPr>
          <p:cNvSpPr>
            <a:spLocks noGrp="1"/>
          </p:cNvSpPr>
          <p:nvPr/>
        </p:nvSpPr>
        <p:spPr>
          <a:xfrm>
            <a:off x="6381750" y="2847975"/>
            <a:ext cx="5429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9D928C-7C49-4E6E-BAA6-8BC1132685BE}"/>
              </a:ext>
            </a:extLst>
          </p:cNvPr>
          <p:cNvSpPr>
            <a:spLocks noGrp="1"/>
          </p:cNvSpPr>
          <p:nvPr/>
        </p:nvSpPr>
        <p:spPr>
          <a:xfrm>
            <a:off x="6572250" y="2905125"/>
            <a:ext cx="504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Pure-JS Cryptography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AD42A8-1DD9-4191-9331-5502A2673E49}"/>
              </a:ext>
            </a:extLst>
          </p:cNvPr>
          <p:cNvSpPr>
            <a:spLocks noGrp="1"/>
          </p:cNvSpPr>
          <p:nvPr/>
        </p:nvSpPr>
        <p:spPr>
          <a:xfrm>
            <a:off x="6572250" y="3133725"/>
            <a:ext cx="504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@noble/curves Ed25519 + @noble/hashes SHA-256 — works in browsers, WebViews, Node.js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131D4E-4175-433C-9819-1398CCE85500}"/>
              </a:ext>
            </a:extLst>
          </p:cNvPr>
          <p:cNvSpPr>
            <a:spLocks noGrp="1"/>
          </p:cNvSpPr>
          <p:nvPr/>
        </p:nvSpPr>
        <p:spPr>
          <a:xfrm>
            <a:off x="6381750" y="3533775"/>
            <a:ext cx="5429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B1AAFD-5858-40CE-94F8-0B9CEC949076}"/>
              </a:ext>
            </a:extLst>
          </p:cNvPr>
          <p:cNvSpPr>
            <a:spLocks noGrp="1"/>
          </p:cNvSpPr>
          <p:nvPr/>
        </p:nvSpPr>
        <p:spPr>
          <a:xfrm>
            <a:off x="6572250" y="3590925"/>
            <a:ext cx="504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Relay-Only Transport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58A68D-A7AE-45C7-A386-E80B4DA04DAA}"/>
              </a:ext>
            </a:extLst>
          </p:cNvPr>
          <p:cNvSpPr>
            <a:spLocks noGrp="1"/>
          </p:cNvSpPr>
          <p:nvPr/>
        </p:nvSpPr>
        <p:spPr>
          <a:xfrm>
            <a:off x="6572250" y="3819525"/>
            <a:ext cx="504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Outbound WebSocket connections only. No TCP/QUIC/mDNS listeners. 30s relay check-in.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FDA727-41CF-41AC-B075-9084270DB090}"/>
              </a:ext>
            </a:extLst>
          </p:cNvPr>
          <p:cNvSpPr>
            <a:spLocks noGrp="1"/>
          </p:cNvSpPr>
          <p:nvPr/>
        </p:nvSpPr>
        <p:spPr>
          <a:xfrm>
            <a:off x="6381750" y="4219575"/>
            <a:ext cx="5429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7611AF-EDFB-478B-82BF-C9AAC95C08F7}"/>
              </a:ext>
            </a:extLst>
          </p:cNvPr>
          <p:cNvSpPr>
            <a:spLocks noGrp="1"/>
          </p:cNvSpPr>
          <p:nvPr/>
        </p:nvSpPr>
        <p:spPr>
          <a:xfrm>
            <a:off x="6572250" y="4276725"/>
            <a:ext cx="504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Multi-Device Identity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B53AAB-2267-486A-862B-D34F32F360DD}"/>
              </a:ext>
            </a:extLst>
          </p:cNvPr>
          <p:cNvSpPr>
            <a:spLocks noGrp="1"/>
          </p:cNvSpPr>
          <p:nvPr/>
        </p:nvSpPr>
        <p:spPr>
          <a:xfrm>
            <a:off x="6572250" y="4505325"/>
            <a:ext cx="504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Scan QR → import owner private key → share ownerId, contacts, bonds across all devices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DD7E41-E477-4FD0-A7E7-CEFD8509684A}"/>
              </a:ext>
            </a:extLst>
          </p:cNvPr>
          <p:cNvSpPr>
            <a:spLocks noGrp="1"/>
          </p:cNvSpPr>
          <p:nvPr/>
        </p:nvSpPr>
        <p:spPr>
          <a:xfrm>
            <a:off x="6381750" y="4905375"/>
            <a:ext cx="5429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07D39A-0E17-4A83-9E8A-AC43742F8E9E}"/>
              </a:ext>
            </a:extLst>
          </p:cNvPr>
          <p:cNvSpPr>
            <a:spLocks noGrp="1"/>
          </p:cNvSpPr>
          <p:nvPr/>
        </p:nvSpPr>
        <p:spPr>
          <a:xfrm>
            <a:off x="6381750" y="4905375"/>
            <a:ext cx="38100" cy="5715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633A8C-DB43-4D69-9979-A52B61276C30}"/>
              </a:ext>
            </a:extLst>
          </p:cNvPr>
          <p:cNvSpPr>
            <a:spLocks noGrp="1"/>
          </p:cNvSpPr>
          <p:nvPr/>
        </p:nvSpPr>
        <p:spPr>
          <a:xfrm>
            <a:off x="6572250" y="4962525"/>
            <a:ext cx="504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QR Pairing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4E1651-7AF3-44AB-A8BE-851DFC464AE1}"/>
              </a:ext>
            </a:extLst>
          </p:cNvPr>
          <p:cNvSpPr>
            <a:spLocks noGrp="1"/>
          </p:cNvSpPr>
          <p:nvPr/>
        </p:nvSpPr>
        <p:spPr>
          <a:xfrm>
            <a:off x="6572250" y="5191125"/>
            <a:ext cx="504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envoy://pair URI → direct P2P bond between mobile and home node. AI agent is a contact.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B5FA8F-261F-4291-A03C-142471483772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666750"/>
          </a:xfrm>
          <a:prstGeom prst="rect">
            <a:avLst/>
          </a:prstGeom>
          <a:solidFill>
            <a:srgbClr val="F1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3839795-4C5D-477E-A82C-4C5C49961EB1}"/>
              </a:ext>
            </a:extLst>
          </p:cNvPr>
          <p:cNvSpPr>
            <a:spLocks noGrp="1"/>
          </p:cNvSpPr>
          <p:nvPr/>
        </p:nvSpPr>
        <p:spPr>
          <a:xfrm>
            <a:off x="1047750" y="5886450"/>
            <a:ext cx="10096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Platforms: iOS · Android (via Capacitor) | Desktop: macOS · Windows · Linux (via Tauri)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44BBED-1235-4703-94A1-81AF80C4EE44}"/>
              </a:ext>
            </a:extLst>
          </p:cNvPr>
          <p:cNvSpPr>
            <a:spLocks noGrp="1"/>
          </p:cNvSpPr>
          <p:nvPr/>
        </p:nvSpPr>
        <p:spPr>
          <a:xfrm>
            <a:off x="1047750" y="6172200"/>
            <a:ext cx="1009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Phase 11A–11E complete: DirectCallClient · @noble/curves crypto · Mobile node runtime · Multi-device shared identity · SQLite + Filesystem storage</a:t>
            </a:r>
          </a:p>
        </p:txBody>
      </p:sp>
    </p:spTree>
    <p:extLst>
      <p:ext uri="{BB962C8B-B14F-4D97-AF65-F5344CB8AC3E}">
        <p14:creationId xmlns:p14="http://schemas.microsoft.com/office/powerpoint/2010/main" val="641088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FE1975F8-2762-4258-A0C5-B8556D4AD7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68B512-7967-4893-857A-22359175DC0F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6A370-75E5-47F0-9F32-EB6790A71F37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7620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Display"/>
                <a:ea typeface="Aptos Display"/>
                <a:cs typeface="Aptos Display"/>
              </a:rPr>
              <a:t>Full libp2p stack — WAN-ready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0D7058-6828-4F80-8F0D-341E3B43CD42}"/>
              </a:ext>
            </a:extLst>
          </p:cNvPr>
          <p:cNvSpPr>
            <a:spLocks noGrp="1"/>
          </p:cNvSpPr>
          <p:nvPr/>
        </p:nvSpPr>
        <p:spPr>
          <a:xfrm>
            <a:off x="476250" y="1428750"/>
            <a:ext cx="3238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BACC6-45FE-48E1-B16E-35EC51F63EB5}"/>
              </a:ext>
            </a:extLst>
          </p:cNvPr>
          <p:cNvSpPr>
            <a:spLocks noGrp="1"/>
          </p:cNvSpPr>
          <p:nvPr/>
        </p:nvSpPr>
        <p:spPr>
          <a:xfrm>
            <a:off x="476250" y="1428750"/>
            <a:ext cx="323850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70EFF-6260-4AFC-A2EA-DC5374B3993A}"/>
              </a:ext>
            </a:extLst>
          </p:cNvPr>
          <p:cNvSpPr>
            <a:spLocks noGrp="1"/>
          </p:cNvSpPr>
          <p:nvPr/>
        </p:nvSpPr>
        <p:spPr>
          <a:xfrm>
            <a:off x="619125" y="15049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Application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405EB8-94B0-4FC6-8DFE-3C83753F464E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EMP Envelope Streams (signed, typed, schema-validated)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8251F-9777-40EF-A6BF-69539DDE1331}"/>
              </a:ext>
            </a:extLst>
          </p:cNvPr>
          <p:cNvSpPr>
            <a:spLocks noGrp="1"/>
          </p:cNvSpPr>
          <p:nvPr/>
        </p:nvSpPr>
        <p:spPr>
          <a:xfrm>
            <a:off x="476250" y="2076450"/>
            <a:ext cx="3238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9D065E-72BD-4182-81FD-073B6A931144}"/>
              </a:ext>
            </a:extLst>
          </p:cNvPr>
          <p:cNvSpPr>
            <a:spLocks noGrp="1"/>
          </p:cNvSpPr>
          <p:nvPr/>
        </p:nvSpPr>
        <p:spPr>
          <a:xfrm>
            <a:off x="476250" y="2076450"/>
            <a:ext cx="3238500" cy="38100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EF8B9D-5005-455E-9922-32CEE318895B}"/>
              </a:ext>
            </a:extLst>
          </p:cNvPr>
          <p:cNvSpPr>
            <a:spLocks noGrp="1"/>
          </p:cNvSpPr>
          <p:nvPr/>
        </p:nvSpPr>
        <p:spPr>
          <a:xfrm>
            <a:off x="619125" y="21526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Protocols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4925A1-AAE2-4734-A671-BC41927BE2CE}"/>
              </a:ext>
            </a:extLst>
          </p:cNvPr>
          <p:cNvSpPr>
            <a:spLocks noGrp="1"/>
          </p:cNvSpPr>
          <p:nvPr/>
        </p:nvSpPr>
        <p:spPr>
          <a:xfrm>
            <a:off x="619125" y="23622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/envoymesh/message/0.1.0 · /envoymesh/chat/0.1.0 · /envoymesh/data/0.1.0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9BB9B3-2379-4F40-8435-CEA608B906CA}"/>
              </a:ext>
            </a:extLst>
          </p:cNvPr>
          <p:cNvSpPr>
            <a:spLocks noGrp="1"/>
          </p:cNvSpPr>
          <p:nvPr/>
        </p:nvSpPr>
        <p:spPr>
          <a:xfrm>
            <a:off x="476250" y="2724150"/>
            <a:ext cx="3238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2A1313-6867-45D8-AEE6-CD552AA04BFF}"/>
              </a:ext>
            </a:extLst>
          </p:cNvPr>
          <p:cNvSpPr>
            <a:spLocks noGrp="1"/>
          </p:cNvSpPr>
          <p:nvPr/>
        </p:nvSpPr>
        <p:spPr>
          <a:xfrm>
            <a:off x="476250" y="2724150"/>
            <a:ext cx="3238500" cy="38100"/>
          </a:xfrm>
          <a:prstGeom prst="rect">
            <a:avLst/>
          </a:prstGeom>
          <a:solidFill>
            <a:srgbClr val="818C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0C05BD-E073-4436-AC59-4C5AEB78521D}"/>
              </a:ext>
            </a:extLst>
          </p:cNvPr>
          <p:cNvSpPr>
            <a:spLocks noGrp="1"/>
          </p:cNvSpPr>
          <p:nvPr/>
        </p:nvSpPr>
        <p:spPr>
          <a:xfrm>
            <a:off x="619125" y="28003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Stream Muxing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FC8A6B-0631-4ABE-AD49-904934F3A941}"/>
              </a:ext>
            </a:extLst>
          </p:cNvPr>
          <p:cNvSpPr>
            <a:spLocks noGrp="1"/>
          </p:cNvSpPr>
          <p:nvPr/>
        </p:nvSpPr>
        <p:spPr>
          <a:xfrm>
            <a:off x="619125" y="30099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yamux — multiplexes multiple streams over a single connection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6A2A25-E218-44C4-9210-3021E9541646}"/>
              </a:ext>
            </a:extLst>
          </p:cNvPr>
          <p:cNvSpPr>
            <a:spLocks noGrp="1"/>
          </p:cNvSpPr>
          <p:nvPr/>
        </p:nvSpPr>
        <p:spPr>
          <a:xfrm>
            <a:off x="476250" y="3371850"/>
            <a:ext cx="3238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78CF1B-AA17-438E-86ED-D5D2C1D9878E}"/>
              </a:ext>
            </a:extLst>
          </p:cNvPr>
          <p:cNvSpPr>
            <a:spLocks noGrp="1"/>
          </p:cNvSpPr>
          <p:nvPr/>
        </p:nvSpPr>
        <p:spPr>
          <a:xfrm>
            <a:off x="476250" y="3371850"/>
            <a:ext cx="3238500" cy="3810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15C04A-E0A3-4407-AA31-5C78969B77DE}"/>
              </a:ext>
            </a:extLst>
          </p:cNvPr>
          <p:cNvSpPr>
            <a:spLocks noGrp="1"/>
          </p:cNvSpPr>
          <p:nvPr/>
        </p:nvSpPr>
        <p:spPr>
          <a:xfrm>
            <a:off x="619125" y="34480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Encryption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1548AE-4DEC-4F4D-BAE4-393236C3C8B8}"/>
              </a:ext>
            </a:extLst>
          </p:cNvPr>
          <p:cNvSpPr>
            <a:spLocks noGrp="1"/>
          </p:cNvSpPr>
          <p:nvPr/>
        </p:nvSpPr>
        <p:spPr>
          <a:xfrm>
            <a:off x="619125" y="36576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Noise — authenticated encryption for every libp2p connection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825E01-B28A-46C8-A281-1218A885681B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3238500" cy="552450"/>
          </a:xfrm>
          <a:prstGeom prst="rect">
            <a:avLst/>
          </a:prstGeom>
          <a:solidFill>
            <a:srgbClr val="1E293B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9D013A-B509-4221-845B-38CB765F20D0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3238500" cy="3810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E189B3-D290-4523-B401-279C46AA3834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857A1F-1878-49A8-9473-CF4E2244A3A8}"/>
              </a:ext>
            </a:extLst>
          </p:cNvPr>
          <p:cNvSpPr>
            <a:spLocks noGrp="1"/>
          </p:cNvSpPr>
          <p:nvPr/>
        </p:nvSpPr>
        <p:spPr>
          <a:xfrm>
            <a:off x="619125" y="430530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TCP · QUIC · WebSocket (browser/mobile)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B61A65-10C8-4861-9B0D-7C88F829E903}"/>
              </a:ext>
            </a:extLst>
          </p:cNvPr>
          <p:cNvSpPr>
            <a:spLocks noGrp="1"/>
          </p:cNvSpPr>
          <p:nvPr/>
        </p:nvSpPr>
        <p:spPr>
          <a:xfrm>
            <a:off x="4000500" y="1428750"/>
            <a:ext cx="3810000" cy="428625"/>
          </a:xfrm>
          <a:prstGeom prst="rect">
            <a:avLst/>
          </a:prstGeom>
          <a:solidFill>
            <a:srgbClr val="1E293B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7F9A8F-2C27-4F3B-9A40-297FAE2BFD78}"/>
              </a:ext>
            </a:extLst>
          </p:cNvPr>
          <p:cNvSpPr>
            <a:spLocks noGrp="1"/>
          </p:cNvSpPr>
          <p:nvPr/>
        </p:nvSpPr>
        <p:spPr>
          <a:xfrm>
            <a:off x="4000500" y="1428750"/>
            <a:ext cx="38100" cy="4286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C768CF-2C40-4A7A-A791-205DE37C16B6}"/>
              </a:ext>
            </a:extLst>
          </p:cNvPr>
          <p:cNvSpPr>
            <a:spLocks noGrp="1"/>
          </p:cNvSpPr>
          <p:nvPr/>
        </p:nvSpPr>
        <p:spPr>
          <a:xfrm>
            <a:off x="4191000" y="14668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mDNS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2381C6-2B11-4AE1-A3FF-0DB999276D01}"/>
              </a:ext>
            </a:extLst>
          </p:cNvPr>
          <p:cNvSpPr>
            <a:spLocks noGrp="1"/>
          </p:cNvSpPr>
          <p:nvPr/>
        </p:nvSpPr>
        <p:spPr>
          <a:xfrm>
            <a:off x="4191000" y="16383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Local network peer discovery — zero-config LAN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B70A1D-7CC1-4615-A944-3A908E972044}"/>
              </a:ext>
            </a:extLst>
          </p:cNvPr>
          <p:cNvSpPr>
            <a:spLocks noGrp="1"/>
          </p:cNvSpPr>
          <p:nvPr/>
        </p:nvSpPr>
        <p:spPr>
          <a:xfrm>
            <a:off x="4000500" y="1952625"/>
            <a:ext cx="3810000" cy="428625"/>
          </a:xfrm>
          <a:prstGeom prst="rect">
            <a:avLst/>
          </a:prstGeom>
          <a:solidFill>
            <a:srgbClr val="1E293B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8C341C-A58E-4E51-9E07-F9E35B9AC5DE}"/>
              </a:ext>
            </a:extLst>
          </p:cNvPr>
          <p:cNvSpPr>
            <a:spLocks noGrp="1"/>
          </p:cNvSpPr>
          <p:nvPr/>
        </p:nvSpPr>
        <p:spPr>
          <a:xfrm>
            <a:off x="4000500" y="1952625"/>
            <a:ext cx="38100" cy="4286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296C34-2309-451D-8983-883D9DEDAA79}"/>
              </a:ext>
            </a:extLst>
          </p:cNvPr>
          <p:cNvSpPr>
            <a:spLocks noGrp="1"/>
          </p:cNvSpPr>
          <p:nvPr/>
        </p:nvSpPr>
        <p:spPr>
          <a:xfrm>
            <a:off x="4191000" y="199072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DHT (Kademlia)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5B3F69-637D-4565-98F9-9614CB4DA985}"/>
              </a:ext>
            </a:extLst>
          </p:cNvPr>
          <p:cNvSpPr>
            <a:spLocks noGrp="1"/>
          </p:cNvSpPr>
          <p:nvPr/>
        </p:nvSpPr>
        <p:spPr>
          <a:xfrm>
            <a:off x="4191000" y="2162175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Distributed peer &amp; provider records — WAN discovery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EA6B23-9C98-4AF1-B767-5116CB5A5AF2}"/>
              </a:ext>
            </a:extLst>
          </p:cNvPr>
          <p:cNvSpPr>
            <a:spLocks noGrp="1"/>
          </p:cNvSpPr>
          <p:nvPr/>
        </p:nvSpPr>
        <p:spPr>
          <a:xfrm>
            <a:off x="4000500" y="2476500"/>
            <a:ext cx="3810000" cy="428625"/>
          </a:xfrm>
          <a:prstGeom prst="rect">
            <a:avLst/>
          </a:prstGeom>
          <a:solidFill>
            <a:srgbClr val="1E293B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18BEED-9349-4B4D-8359-A71191B77AE2}"/>
              </a:ext>
            </a:extLst>
          </p:cNvPr>
          <p:cNvSpPr>
            <a:spLocks noGrp="1"/>
          </p:cNvSpPr>
          <p:nvPr/>
        </p:nvSpPr>
        <p:spPr>
          <a:xfrm>
            <a:off x="4000500" y="2476500"/>
            <a:ext cx="38100" cy="4286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729674-71AE-4DDA-BFAB-F3198FC8FD2E}"/>
              </a:ext>
            </a:extLst>
          </p:cNvPr>
          <p:cNvSpPr>
            <a:spLocks noGrp="1"/>
          </p:cNvSpPr>
          <p:nvPr/>
        </p:nvSpPr>
        <p:spPr>
          <a:xfrm>
            <a:off x="4191000" y="25146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Circuit Relay v2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9E6C69-B360-4088-84F0-1B4561E9C66C}"/>
              </a:ext>
            </a:extLst>
          </p:cNvPr>
          <p:cNvSpPr>
            <a:spLocks noGrp="1"/>
          </p:cNvSpPr>
          <p:nvPr/>
        </p:nvSpPr>
        <p:spPr>
          <a:xfrm>
            <a:off x="4191000" y="26860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NAT traversal — relay nodes connect peers behind firewalls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2D183D-EF04-4DAA-9489-483DF7F6269F}"/>
              </a:ext>
            </a:extLst>
          </p:cNvPr>
          <p:cNvSpPr>
            <a:spLocks noGrp="1"/>
          </p:cNvSpPr>
          <p:nvPr/>
        </p:nvSpPr>
        <p:spPr>
          <a:xfrm>
            <a:off x="4000500" y="3000375"/>
            <a:ext cx="3810000" cy="428625"/>
          </a:xfrm>
          <a:prstGeom prst="rect">
            <a:avLst/>
          </a:prstGeom>
          <a:solidFill>
            <a:srgbClr val="1E293B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004304-72C1-4741-A2D7-E0C733604B2A}"/>
              </a:ext>
            </a:extLst>
          </p:cNvPr>
          <p:cNvSpPr>
            <a:spLocks noGrp="1"/>
          </p:cNvSpPr>
          <p:nvPr/>
        </p:nvSpPr>
        <p:spPr>
          <a:xfrm>
            <a:off x="4000500" y="3000375"/>
            <a:ext cx="38100" cy="4286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011EA0-64EB-46BD-813C-6115675C75AC}"/>
              </a:ext>
            </a:extLst>
          </p:cNvPr>
          <p:cNvSpPr>
            <a:spLocks noGrp="1"/>
          </p:cNvSpPr>
          <p:nvPr/>
        </p:nvSpPr>
        <p:spPr>
          <a:xfrm>
            <a:off x="4191000" y="30384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AutoNAT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C2C76F-396D-447F-B8F3-E4EE8D3EA56E}"/>
              </a:ext>
            </a:extLst>
          </p:cNvPr>
          <p:cNvSpPr>
            <a:spLocks noGrp="1"/>
          </p:cNvSpPr>
          <p:nvPr/>
        </p:nvSpPr>
        <p:spPr>
          <a:xfrm>
            <a:off x="4191000" y="3209925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Automatic NAT type detection — determines reachability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B8ECB7-5429-42B9-A6A3-A2F268D70B32}"/>
              </a:ext>
            </a:extLst>
          </p:cNvPr>
          <p:cNvSpPr>
            <a:spLocks noGrp="1"/>
          </p:cNvSpPr>
          <p:nvPr/>
        </p:nvSpPr>
        <p:spPr>
          <a:xfrm>
            <a:off x="4000500" y="3524250"/>
            <a:ext cx="3810000" cy="428625"/>
          </a:xfrm>
          <a:prstGeom prst="rect">
            <a:avLst/>
          </a:prstGeom>
          <a:solidFill>
            <a:srgbClr val="1E293B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A13F7BD-1CB1-4534-A7DE-20B759C814AC}"/>
              </a:ext>
            </a:extLst>
          </p:cNvPr>
          <p:cNvSpPr>
            <a:spLocks noGrp="1"/>
          </p:cNvSpPr>
          <p:nvPr/>
        </p:nvSpPr>
        <p:spPr>
          <a:xfrm>
            <a:off x="4000500" y="3524250"/>
            <a:ext cx="38100" cy="4286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4A07A3-29A1-4AF2-B252-C3608B1DD976}"/>
              </a:ext>
            </a:extLst>
          </p:cNvPr>
          <p:cNvSpPr>
            <a:spLocks noGrp="1"/>
          </p:cNvSpPr>
          <p:nvPr/>
        </p:nvSpPr>
        <p:spPr>
          <a:xfrm>
            <a:off x="4191000" y="35623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DCUtR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5CBD5D-01C4-4650-AA80-2C685208712E}"/>
              </a:ext>
            </a:extLst>
          </p:cNvPr>
          <p:cNvSpPr>
            <a:spLocks noGrp="1"/>
          </p:cNvSpPr>
          <p:nvPr/>
        </p:nvSpPr>
        <p:spPr>
          <a:xfrm>
            <a:off x="4191000" y="37338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Direct Connection Upgrade through Relay — hole punching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CDBEE9-BB47-4038-9DDA-42E1A4A27F87}"/>
              </a:ext>
            </a:extLst>
          </p:cNvPr>
          <p:cNvSpPr>
            <a:spLocks noGrp="1"/>
          </p:cNvSpPr>
          <p:nvPr/>
        </p:nvSpPr>
        <p:spPr>
          <a:xfrm>
            <a:off x="4000500" y="4048125"/>
            <a:ext cx="3810000" cy="428625"/>
          </a:xfrm>
          <a:prstGeom prst="rect">
            <a:avLst/>
          </a:prstGeom>
          <a:solidFill>
            <a:srgbClr val="1E293B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261411-4D79-4998-9ACA-F2548F11583D}"/>
              </a:ext>
            </a:extLst>
          </p:cNvPr>
          <p:cNvSpPr>
            <a:spLocks noGrp="1"/>
          </p:cNvSpPr>
          <p:nvPr/>
        </p:nvSpPr>
        <p:spPr>
          <a:xfrm>
            <a:off x="4000500" y="4048125"/>
            <a:ext cx="38100" cy="4286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2E3A480-BA65-4765-B7C4-E2C19C28DB4A}"/>
              </a:ext>
            </a:extLst>
          </p:cNvPr>
          <p:cNvSpPr>
            <a:spLocks noGrp="1"/>
          </p:cNvSpPr>
          <p:nvPr/>
        </p:nvSpPr>
        <p:spPr>
          <a:xfrm>
            <a:off x="4191000" y="408622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DHT Capability Topics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26F058F-A779-4FA1-A9BD-3CEC33F738B4}"/>
              </a:ext>
            </a:extLst>
          </p:cNvPr>
          <p:cNvSpPr>
            <a:spLocks noGrp="1"/>
          </p:cNvSpPr>
          <p:nvPr/>
        </p:nvSpPr>
        <p:spPr>
          <a:xfrm>
            <a:off x="4191000" y="4257675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Opt-in topic advertisement — discover peers by capability, not biography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84D6E95-A50E-4130-BD5D-E12765A603DF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3714750" cy="3714750"/>
          </a:xfrm>
          <a:prstGeom prst="rect">
            <a:avLst/>
          </a:prstGeom>
          <a:solidFill>
            <a:srgbClr val="1E293B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4CE63C-85D6-4FC7-9433-7EC138985DFB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3714750" cy="3810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8AE1798-258F-44C4-A898-81EE92F98B85}"/>
              </a:ext>
            </a:extLst>
          </p:cNvPr>
          <p:cNvSpPr>
            <a:spLocks noGrp="1"/>
          </p:cNvSpPr>
          <p:nvPr/>
        </p:nvSpPr>
        <p:spPr>
          <a:xfrm>
            <a:off x="8334375" y="1571625"/>
            <a:ext cx="3238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EA5E9"/>
                </a:solidFill>
                <a:latin typeface="Aptos Display"/>
                <a:ea typeface="Aptos Display"/>
                <a:cs typeface="Aptos Display"/>
              </a:rPr>
              <a:t>Relay Network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76D11F0-8A4C-45CB-9067-FFF8D431F86D}"/>
              </a:ext>
            </a:extLst>
          </p:cNvPr>
          <p:cNvSpPr>
            <a:spLocks noGrp="1"/>
          </p:cNvSpPr>
          <p:nvPr/>
        </p:nvSpPr>
        <p:spPr>
          <a:xfrm>
            <a:off x="8334375" y="190500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 check-in on connect + every 30s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FC70599-A73D-481D-A108-5781040152FA}"/>
              </a:ext>
            </a:extLst>
          </p:cNvPr>
          <p:cNvSpPr>
            <a:spLocks noGrp="1"/>
          </p:cNvSpPr>
          <p:nvPr/>
        </p:nvSpPr>
        <p:spPr>
          <a:xfrm>
            <a:off x="8334375" y="2219325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Bounded relay.lookup (maxHops, maxFanout)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00136B-4CC1-4E0A-8A2A-82FCDF732CAD}"/>
              </a:ext>
            </a:extLst>
          </p:cNvPr>
          <p:cNvSpPr>
            <a:spLocks noGrp="1"/>
          </p:cNvSpPr>
          <p:nvPr/>
        </p:nvSpPr>
        <p:spPr>
          <a:xfrm>
            <a:off x="8334375" y="253365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 graph: hierarchical with summaries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A7C46BB-F024-484F-93D3-A8BF725A38D2}"/>
              </a:ext>
            </a:extLst>
          </p:cNvPr>
          <p:cNvSpPr>
            <a:spLocks noGrp="1"/>
          </p:cNvSpPr>
          <p:nvPr/>
        </p:nvSpPr>
        <p:spPr>
          <a:xfrm>
            <a:off x="8334375" y="2847975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 hints.request for routing hints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1ADC91-14D1-4E9B-AD48-23BBF18114C7}"/>
              </a:ext>
            </a:extLst>
          </p:cNvPr>
          <p:cNvSpPr>
            <a:spLocks noGrp="1"/>
          </p:cNvSpPr>
          <p:nvPr/>
        </p:nvSpPr>
        <p:spPr>
          <a:xfrm>
            <a:off x="8334375" y="316230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Relay roster snapshots for operators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4F15E3D-4A5D-4C69-ABA3-BED1DC57E8C7}"/>
              </a:ext>
            </a:extLst>
          </p:cNvPr>
          <p:cNvSpPr>
            <a:spLocks noGrp="1"/>
          </p:cNvSpPr>
          <p:nvPr/>
        </p:nvSpPr>
        <p:spPr>
          <a:xfrm>
            <a:off x="8334375" y="3476625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Negative caching for failed lookups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976230A-A3BA-4A76-8A4D-5D8DDEA89AD4}"/>
              </a:ext>
            </a:extLst>
          </p:cNvPr>
          <p:cNvSpPr>
            <a:spLocks noGrp="1"/>
          </p:cNvSpPr>
          <p:nvPr/>
        </p:nvSpPr>
        <p:spPr>
          <a:xfrm>
            <a:off x="8334375" y="379095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Capability topic CID-based provider records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D26BDC6-78B0-4CDF-B146-37CD135DF01B}"/>
              </a:ext>
            </a:extLst>
          </p:cNvPr>
          <p:cNvSpPr>
            <a:spLocks noGrp="1"/>
          </p:cNvSpPr>
          <p:nvPr/>
        </p:nvSpPr>
        <p:spPr>
          <a:xfrm>
            <a:off x="8334375" y="4105275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Bootstrap presets: public-libp2p, custom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9099CF0-FA8D-42E2-8E59-FCE0A7996CF3}"/>
              </a:ext>
            </a:extLst>
          </p:cNvPr>
          <p:cNvSpPr>
            <a:spLocks noGrp="1"/>
          </p:cNvSpPr>
          <p:nvPr/>
        </p:nvSpPr>
        <p:spPr>
          <a:xfrm>
            <a:off x="8334375" y="441960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▸ Connectivity-strict mode for reliability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B055302-7CCE-4217-923A-3E2087AB3700}"/>
              </a:ext>
            </a:extLst>
          </p:cNvPr>
          <p:cNvSpPr>
            <a:spLocks noGrp="1"/>
          </p:cNvSpPr>
          <p:nvPr/>
        </p:nvSpPr>
        <p:spPr>
          <a:xfrm>
            <a:off x="476250" y="5286375"/>
            <a:ext cx="11334750" cy="1285875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24C167-813D-4E7F-8FFA-37236B1A8D68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10763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818CF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818CF8"/>
                </a:solidFill>
                <a:latin typeface="Aptos Display"/>
                <a:ea typeface="Aptos Display"/>
                <a:cs typeface="Aptos Display"/>
              </a:rPr>
              <a:t>WAN Bootstrap &amp; Connectivity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C08135-9988-402E-8023-1FBEBAAA2EF7}"/>
              </a:ext>
            </a:extLst>
          </p:cNvPr>
          <p:cNvSpPr>
            <a:spLocks noGrp="1"/>
          </p:cNvSpPr>
          <p:nvPr/>
        </p:nvSpPr>
        <p:spPr>
          <a:xfrm>
            <a:off x="762000" y="5667375"/>
            <a:ext cx="3524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`--bootstrap-preset public-libp2p`</a:t>
            </a:r>
          </a:p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Public bootstrap nodes for WAN entry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3D20D9F-3879-4CA8-AD06-42E61DA266F7}"/>
              </a:ext>
            </a:extLst>
          </p:cNvPr>
          <p:cNvSpPr>
            <a:spLocks noGrp="1"/>
          </p:cNvSpPr>
          <p:nvPr/>
        </p:nvSpPr>
        <p:spPr>
          <a:xfrm>
            <a:off x="4381500" y="5667375"/>
            <a:ext cx="3524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`--connectivity-strict`</a:t>
            </a:r>
          </a:p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Fail startup if all bootstrap probes fail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33C5546-D7E4-4D22-AD73-F31122C26932}"/>
              </a:ext>
            </a:extLst>
          </p:cNvPr>
          <p:cNvSpPr>
            <a:spLocks noGrp="1"/>
          </p:cNvSpPr>
          <p:nvPr/>
        </p:nvSpPr>
        <p:spPr>
          <a:xfrm>
            <a:off x="8001000" y="5667375"/>
            <a:ext cx="3524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`--p2p-debug`</a:t>
            </a:r>
          </a:p>
          <a:p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libp2p lifecycle traces as p2p.trace audit rows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DC087B9-35A8-44A9-8C04-9981135905A5}"/>
              </a:ext>
            </a:extLst>
          </p:cNvPr>
          <p:cNvSpPr>
            <a:spLocks noGrp="1"/>
          </p:cNvSpPr>
          <p:nvPr/>
        </p:nvSpPr>
        <p:spPr>
          <a:xfrm>
            <a:off x="762000" y="6191250"/>
            <a:ext cx="10763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Social challenge probes · Discovery dashboard (wan-default profile) · Connectivity smoke tests · Live connectivity testing framework</a:t>
            </a:r>
          </a:p>
        </p:txBody>
      </p:sp>
    </p:spTree>
    <p:extLst>
      <p:ext uri="{BB962C8B-B14F-4D97-AF65-F5344CB8AC3E}">
        <p14:creationId xmlns:p14="http://schemas.microsoft.com/office/powerpoint/2010/main" val="281262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E332848C-2925-49F2-BB68-87A0811BF5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9672C6-9ED3-4E49-A2ED-ADC3E95D69D6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TRUST &amp; POLICY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C1E41-52D1-4590-9C47-B708DE26AC0C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6667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Four-tier trust model with deterministic enforcement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0E30FF-21EE-4ABE-84D5-9248991525AD}"/>
              </a:ext>
            </a:extLst>
          </p:cNvPr>
          <p:cNvSpPr>
            <a:spLocks noGrp="1"/>
          </p:cNvSpPr>
          <p:nvPr/>
        </p:nvSpPr>
        <p:spPr>
          <a:xfrm>
            <a:off x="285750" y="1476375"/>
            <a:ext cx="2762250" cy="26670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F2D94-7E96-41B6-9042-2C58722A7B3B}"/>
              </a:ext>
            </a:extLst>
          </p:cNvPr>
          <p:cNvSpPr>
            <a:spLocks noGrp="1"/>
          </p:cNvSpPr>
          <p:nvPr/>
        </p:nvSpPr>
        <p:spPr>
          <a:xfrm>
            <a:off x="285750" y="1476375"/>
            <a:ext cx="2762250" cy="571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1D8FFC-819E-460E-B0F0-2C068C41D9DD}"/>
              </a:ext>
            </a:extLst>
          </p:cNvPr>
          <p:cNvSpPr>
            <a:spLocks noGrp="1"/>
          </p:cNvSpPr>
          <p:nvPr/>
        </p:nvSpPr>
        <p:spPr>
          <a:xfrm>
            <a:off x="476250" y="16383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8D4247-BA40-4337-B8B8-D370620E0F40}"/>
              </a:ext>
            </a:extLst>
          </p:cNvPr>
          <p:cNvSpPr>
            <a:spLocks noGrp="1"/>
          </p:cNvSpPr>
          <p:nvPr/>
        </p:nvSpPr>
        <p:spPr>
          <a:xfrm>
            <a:off x="476250" y="1924050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All requests denied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FC905E-4C81-4B6D-B232-C8995A819368}"/>
              </a:ext>
            </a:extLst>
          </p:cNvPr>
          <p:cNvSpPr>
            <a:spLocks noGrp="1"/>
          </p:cNvSpPr>
          <p:nvPr/>
        </p:nvSpPr>
        <p:spPr>
          <a:xfrm>
            <a:off x="428625" y="2286000"/>
            <a:ext cx="24765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communication allowed</a:t>
            </a:r>
          </a:p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Envelope never reaches policy engine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D2D1F7-C691-4D95-A7CF-5D85F31C8432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2762250" cy="266700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A4280-7821-4D88-A3CE-C1D551EF80EC}"/>
              </a:ext>
            </a:extLst>
          </p:cNvPr>
          <p:cNvSpPr>
            <a:spLocks noGrp="1"/>
          </p:cNvSpPr>
          <p:nvPr/>
        </p:nvSpPr>
        <p:spPr>
          <a:xfrm>
            <a:off x="3286125" y="1476375"/>
            <a:ext cx="2762250" cy="571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0DAA21-06D0-4A98-909A-52208405A7DC}"/>
              </a:ext>
            </a:extLst>
          </p:cNvPr>
          <p:cNvSpPr>
            <a:spLocks noGrp="1"/>
          </p:cNvSpPr>
          <p:nvPr/>
        </p:nvSpPr>
        <p:spPr>
          <a:xfrm>
            <a:off x="3476625" y="16383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2EF8AA-801E-46E1-9AC2-E56BCDB00179}"/>
              </a:ext>
            </a:extLst>
          </p:cNvPr>
          <p:cNvSpPr>
            <a:spLocks noGrp="1"/>
          </p:cNvSpPr>
          <p:nvPr/>
        </p:nvSpPr>
        <p:spPr>
          <a:xfrm>
            <a:off x="3476625" y="1924050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Stranger — minimal access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E25C95-3773-4E97-938F-8394F7368ACB}"/>
              </a:ext>
            </a:extLst>
          </p:cNvPr>
          <p:cNvSpPr>
            <a:spLocks noGrp="1"/>
          </p:cNvSpPr>
          <p:nvPr/>
        </p:nvSpPr>
        <p:spPr>
          <a:xfrm>
            <a:off x="3429000" y="2286000"/>
            <a:ext cx="24765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bond.request / ping allowed</a:t>
            </a:r>
          </a:p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Everything else denied or challenged</a:t>
            </a:r>
          </a:p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Challenge-response required for more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C2AB7F-C4BF-49D6-9636-2251B1EB9396}"/>
              </a:ext>
            </a:extLst>
          </p:cNvPr>
          <p:cNvSpPr>
            <a:spLocks noGrp="1"/>
          </p:cNvSpPr>
          <p:nvPr/>
        </p:nvSpPr>
        <p:spPr>
          <a:xfrm>
            <a:off x="6286500" y="1476375"/>
            <a:ext cx="2762250" cy="2667000"/>
          </a:xfrm>
          <a:prstGeom prst="rect">
            <a:avLst/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65B65-46A4-4E95-9CF0-EEB5FC47B5C0}"/>
              </a:ext>
            </a:extLst>
          </p:cNvPr>
          <p:cNvSpPr>
            <a:spLocks noGrp="1"/>
          </p:cNvSpPr>
          <p:nvPr/>
        </p:nvSpPr>
        <p:spPr>
          <a:xfrm>
            <a:off x="6286500" y="1476375"/>
            <a:ext cx="2762250" cy="5715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B7620C-1468-46DC-879F-F3CCCAD3BED8}"/>
              </a:ext>
            </a:extLst>
          </p:cNvPr>
          <p:cNvSpPr>
            <a:spLocks noGrp="1"/>
          </p:cNvSpPr>
          <p:nvPr/>
        </p:nvSpPr>
        <p:spPr>
          <a:xfrm>
            <a:off x="6477000" y="16383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REFERRED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0B2C8B-0219-4D98-9CF6-B00C99E71BA2}"/>
              </a:ext>
            </a:extLst>
          </p:cNvPr>
          <p:cNvSpPr>
            <a:spLocks noGrp="1"/>
          </p:cNvSpPr>
          <p:nvPr/>
        </p:nvSpPr>
        <p:spPr>
          <a:xfrm>
            <a:off x="6477000" y="1924050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Friend-of-friend — gated access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B671ED-1803-45C4-AC1C-099FFCBB0F4C}"/>
              </a:ext>
            </a:extLst>
          </p:cNvPr>
          <p:cNvSpPr>
            <a:spLocks noGrp="1"/>
          </p:cNvSpPr>
          <p:nvPr/>
        </p:nvSpPr>
        <p:spPr>
          <a:xfrm>
            <a:off x="6429375" y="2286000"/>
            <a:ext cx="24765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knowledge.query at public sensitivity</a:t>
            </a:r>
          </a:p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Most other actions require approval</a:t>
            </a:r>
          </a:p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Referral or credential required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4A7DC4-110C-435D-ACDB-853A306C943B}"/>
              </a:ext>
            </a:extLst>
          </p:cNvPr>
          <p:cNvSpPr>
            <a:spLocks noGrp="1"/>
          </p:cNvSpPr>
          <p:nvPr/>
        </p:nvSpPr>
        <p:spPr>
          <a:xfrm>
            <a:off x="9286875" y="1476375"/>
            <a:ext cx="2762250" cy="266700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BC2014-AACA-4F45-A195-6AC914DB7B24}"/>
              </a:ext>
            </a:extLst>
          </p:cNvPr>
          <p:cNvSpPr>
            <a:spLocks noGrp="1"/>
          </p:cNvSpPr>
          <p:nvPr/>
        </p:nvSpPr>
        <p:spPr>
          <a:xfrm>
            <a:off x="9286875" y="1476375"/>
            <a:ext cx="2762250" cy="571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EE46F2-89CA-4C3F-8736-153D6E7058F3}"/>
              </a:ext>
            </a:extLst>
          </p:cNvPr>
          <p:cNvSpPr>
            <a:spLocks noGrp="1"/>
          </p:cNvSpPr>
          <p:nvPr/>
        </p:nvSpPr>
        <p:spPr>
          <a:xfrm>
            <a:off x="9477375" y="163830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3BDAA3-F23D-405C-B39B-1A352773ED96}"/>
              </a:ext>
            </a:extLst>
          </p:cNvPr>
          <p:cNvSpPr>
            <a:spLocks noGrp="1"/>
          </p:cNvSpPr>
          <p:nvPr/>
        </p:nvSpPr>
        <p:spPr>
          <a:xfrm>
            <a:off x="9477375" y="1924050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Trusted friend — expanded access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334DF7-B039-408C-892A-C7DFDD8A978F}"/>
              </a:ext>
            </a:extLst>
          </p:cNvPr>
          <p:cNvSpPr>
            <a:spLocks noGrp="1"/>
          </p:cNvSpPr>
          <p:nvPr/>
        </p:nvSpPr>
        <p:spPr>
          <a:xfrm>
            <a:off x="9429750" y="2286000"/>
            <a:ext cx="24765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knowledge.query up to friends sensitivity</a:t>
            </a:r>
          </a:p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Direct messages without approval</a:t>
            </a:r>
          </a:p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Share previews and task proposals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C17B9F-97C6-4607-8982-1ACB2140AC1E}"/>
              </a:ext>
            </a:extLst>
          </p:cNvPr>
          <p:cNvSpPr>
            <a:spLocks noGrp="1"/>
          </p:cNvSpPr>
          <p:nvPr/>
        </p:nvSpPr>
        <p:spPr>
          <a:xfrm>
            <a:off x="285750" y="4381500"/>
            <a:ext cx="11620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227408-6410-4A68-8A13-249C02F46B24}"/>
              </a:ext>
            </a:extLst>
          </p:cNvPr>
          <p:cNvSpPr>
            <a:spLocks noGrp="1"/>
          </p:cNvSpPr>
          <p:nvPr/>
        </p:nvSpPr>
        <p:spPr>
          <a:xfrm>
            <a:off x="285750" y="4381500"/>
            <a:ext cx="1162050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FF6E79-3CC2-42FC-A435-DC55B629F95A}"/>
              </a:ext>
            </a:extLst>
          </p:cNvPr>
          <p:cNvSpPr>
            <a:spLocks noGrp="1"/>
          </p:cNvSpPr>
          <p:nvPr/>
        </p:nvSpPr>
        <p:spPr>
          <a:xfrm>
            <a:off x="571500" y="4524375"/>
            <a:ext cx="1104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Mandates — Owner-signed authorization for tasks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9EFCEB-A321-4E6F-86AB-62AAF6536C1C}"/>
              </a:ext>
            </a:extLst>
          </p:cNvPr>
          <p:cNvSpPr>
            <a:spLocks noGrp="1"/>
          </p:cNvSpPr>
          <p:nvPr/>
        </p:nvSpPr>
        <p:spPr>
          <a:xfrm>
            <a:off x="571500" y="49053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taskIntent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2507CC-BD47-423A-BC89-8265BF57A7C0}"/>
              </a:ext>
            </a:extLst>
          </p:cNvPr>
          <p:cNvSpPr>
            <a:spLocks noGrp="1"/>
          </p:cNvSpPr>
          <p:nvPr/>
        </p:nvSpPr>
        <p:spPr>
          <a:xfrm>
            <a:off x="2381250" y="49053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task is authorized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3B2D55-6833-4E20-9427-BCB17300F37A}"/>
              </a:ext>
            </a:extLst>
          </p:cNvPr>
          <p:cNvSpPr>
            <a:spLocks noGrp="1"/>
          </p:cNvSpPr>
          <p:nvPr/>
        </p:nvSpPr>
        <p:spPr>
          <a:xfrm>
            <a:off x="4381500" y="49053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allowedActions / disallowedActions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AF9202-97FE-422F-9932-CD6C0F910490}"/>
              </a:ext>
            </a:extLst>
          </p:cNvPr>
          <p:cNvSpPr>
            <a:spLocks noGrp="1"/>
          </p:cNvSpPr>
          <p:nvPr/>
        </p:nvSpPr>
        <p:spPr>
          <a:xfrm>
            <a:off x="6191250" y="49053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Granular operation control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481E6B-FDF7-49B0-96E2-D7595597A212}"/>
              </a:ext>
            </a:extLst>
          </p:cNvPr>
          <p:cNvSpPr>
            <a:spLocks noGrp="1"/>
          </p:cNvSpPr>
          <p:nvPr/>
        </p:nvSpPr>
        <p:spPr>
          <a:xfrm>
            <a:off x="8191500" y="49053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maxSensitivity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E0F4E1-F0FA-459C-BD6E-8367849DCFF1}"/>
              </a:ext>
            </a:extLst>
          </p:cNvPr>
          <p:cNvSpPr>
            <a:spLocks noGrp="1"/>
          </p:cNvSpPr>
          <p:nvPr/>
        </p:nvSpPr>
        <p:spPr>
          <a:xfrm>
            <a:off x="10001250" y="49053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Data sensitivity ceiling (public → private)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FE0FE5-CBC3-42A7-B558-08723EE8C883}"/>
              </a:ext>
            </a:extLst>
          </p:cNvPr>
          <p:cNvSpPr>
            <a:spLocks noGrp="1"/>
          </p:cNvSpPr>
          <p:nvPr/>
        </p:nvSpPr>
        <p:spPr>
          <a:xfrm>
            <a:off x="571500" y="538162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maxCost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C588F3-A0B3-4E01-B3A9-C3755B5DE114}"/>
              </a:ext>
            </a:extLst>
          </p:cNvPr>
          <p:cNvSpPr>
            <a:spLocks noGrp="1"/>
          </p:cNvSpPr>
          <p:nvPr/>
        </p:nvSpPr>
        <p:spPr>
          <a:xfrm>
            <a:off x="2381250" y="538162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Spending limit for model/routing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7DDB9F-2835-4AB1-8540-DF3FB0F4C4F2}"/>
              </a:ext>
            </a:extLst>
          </p:cNvPr>
          <p:cNvSpPr>
            <a:spLocks noGrp="1"/>
          </p:cNvSpPr>
          <p:nvPr/>
        </p:nvSpPr>
        <p:spPr>
          <a:xfrm>
            <a:off x="4381500" y="538162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expiresAt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57488D-4C22-4CDA-960B-83C025C835CF}"/>
              </a:ext>
            </a:extLst>
          </p:cNvPr>
          <p:cNvSpPr>
            <a:spLocks noGrp="1"/>
          </p:cNvSpPr>
          <p:nvPr/>
        </p:nvSpPr>
        <p:spPr>
          <a:xfrm>
            <a:off x="6191250" y="538162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Hard deadline — task rejected after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31EB81-FCF6-4F79-8C16-1662DF83D28A}"/>
              </a:ext>
            </a:extLst>
          </p:cNvPr>
          <p:cNvSpPr>
            <a:spLocks noGrp="1"/>
          </p:cNvSpPr>
          <p:nvPr/>
        </p:nvSpPr>
        <p:spPr>
          <a:xfrm>
            <a:off x="8191500" y="538162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closeOnFirstCompletedResult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E95498-3D58-4368-B307-10F09555F0EE}"/>
              </a:ext>
            </a:extLst>
          </p:cNvPr>
          <p:cNvSpPr>
            <a:spLocks noGrp="1"/>
          </p:cNvSpPr>
          <p:nvPr/>
        </p:nvSpPr>
        <p:spPr>
          <a:xfrm>
            <a:off x="10001250" y="538162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Stop accepting work after first success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4C8CBA-509A-4751-8CE5-E84CDDEA24A4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collectCompletedResults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5CC4B8-DE71-4345-916C-7BDAC46B7B4F}"/>
              </a:ext>
            </a:extLst>
          </p:cNvPr>
          <p:cNvSpPr>
            <a:spLocks noGrp="1"/>
          </p:cNvSpPr>
          <p:nvPr/>
        </p:nvSpPr>
        <p:spPr>
          <a:xfrm>
            <a:off x="2381250" y="58578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Wait for N results before terminating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06ECC68-0569-4573-A386-DF7D0C778DBC}"/>
              </a:ext>
            </a:extLst>
          </p:cNvPr>
          <p:cNvSpPr>
            <a:spLocks noGrp="1"/>
          </p:cNvSpPr>
          <p:nvPr/>
        </p:nvSpPr>
        <p:spPr>
          <a:xfrm>
            <a:off x="4381500" y="58578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requiresApprovalFor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823ECFB-B5B3-4AC2-AE49-57DF29E9A7B3}"/>
              </a:ext>
            </a:extLst>
          </p:cNvPr>
          <p:cNvSpPr>
            <a:spLocks noGrp="1"/>
          </p:cNvSpPr>
          <p:nvPr/>
        </p:nvSpPr>
        <p:spPr>
          <a:xfrm>
            <a:off x="6191250" y="58578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Actions needing human approval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235E80-3FAA-4C14-8B11-FE3C14193537}"/>
              </a:ext>
            </a:extLst>
          </p:cNvPr>
          <p:cNvSpPr>
            <a:spLocks noGrp="1"/>
          </p:cNvSpPr>
          <p:nvPr/>
        </p:nvSpPr>
        <p:spPr>
          <a:xfrm>
            <a:off x="8191500" y="58578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ttl (max 8)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38D225-96D0-483F-939A-0E97C3BB18FB}"/>
              </a:ext>
            </a:extLst>
          </p:cNvPr>
          <p:cNvSpPr>
            <a:spLocks noGrp="1"/>
          </p:cNvSpPr>
          <p:nvPr/>
        </p:nvSpPr>
        <p:spPr>
          <a:xfrm>
            <a:off x="10001250" y="5857875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Max relay hop propagation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B6C980A-532C-43B7-A631-F0BA20FA12D2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1104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Task lifecycle: created → planned → discovering → negotiating → waiting_for_peer → running → partial → completed | failed | cancelled</a:t>
            </a:r>
          </a:p>
        </p:txBody>
      </p:sp>
    </p:spTree>
    <p:extLst>
      <p:ext uri="{BB962C8B-B14F-4D97-AF65-F5344CB8AC3E}">
        <p14:creationId xmlns:p14="http://schemas.microsoft.com/office/powerpoint/2010/main" val="462144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97F97214-743D-4AC8-BD29-9ED82DD6FB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84E17-11DF-4936-9E09-7AC0760F9CC1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D91B8-EA3C-4A24-AE3A-60BC8DFC9BEE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7620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Display"/>
                <a:ea typeface="Aptos Display"/>
                <a:cs typeface="Aptos Display"/>
              </a:rPr>
              <a:t>11 phases delivered — Production-ready 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A0B49C-5ABF-4EC2-B5A4-6FDAF6E15D95}"/>
              </a:ext>
            </a:extLst>
          </p:cNvPr>
          <p:cNvSpPr>
            <a:spLocks noGrp="1"/>
          </p:cNvSpPr>
          <p:nvPr/>
        </p:nvSpPr>
        <p:spPr>
          <a:xfrm>
            <a:off x="476250" y="1476375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32143-0A7F-4F4F-8264-417B83DFB4A2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8D8432-F6B7-4DB9-B369-A7BAB7FA58A4}"/>
              </a:ext>
            </a:extLst>
          </p:cNvPr>
          <p:cNvSpPr>
            <a:spLocks noGrp="1"/>
          </p:cNvSpPr>
          <p:nvPr/>
        </p:nvSpPr>
        <p:spPr>
          <a:xfrm>
            <a:off x="1000125" y="15144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87FB4D-98B7-4255-8579-7BE8A6D533A8}"/>
              </a:ext>
            </a:extLst>
          </p:cNvPr>
          <p:cNvSpPr>
            <a:spLocks noGrp="1"/>
          </p:cNvSpPr>
          <p:nvPr/>
        </p:nvSpPr>
        <p:spPr>
          <a:xfrm>
            <a:off x="1000125" y="170497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Project foundation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756B83-8931-4FAE-811C-D759DB91CBB4}"/>
              </a:ext>
            </a:extLst>
          </p:cNvPr>
          <p:cNvSpPr>
            <a:spLocks noGrp="1"/>
          </p:cNvSpPr>
          <p:nvPr/>
        </p:nvSpPr>
        <p:spPr>
          <a:xfrm>
            <a:off x="476250" y="2095500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4AB1F5-C67A-4ADB-B759-A564742B9871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C8C4D6-2703-4369-A098-818410FC93A5}"/>
              </a:ext>
            </a:extLst>
          </p:cNvPr>
          <p:cNvSpPr>
            <a:spLocks noGrp="1"/>
          </p:cNvSpPr>
          <p:nvPr/>
        </p:nvSpPr>
        <p:spPr>
          <a:xfrm>
            <a:off x="1000125" y="2133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B7B24A-2B1F-49CC-8FE4-5BCBAAA66336}"/>
              </a:ext>
            </a:extLst>
          </p:cNvPr>
          <p:cNvSpPr>
            <a:spLocks noGrp="1"/>
          </p:cNvSpPr>
          <p:nvPr/>
        </p:nvSpPr>
        <p:spPr>
          <a:xfrm>
            <a:off x="1000125" y="23241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Protocol &amp; identity (EMP, Ed25519, Zod)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DB1235-6674-4E47-A1E0-F3671AA9C15A}"/>
              </a:ext>
            </a:extLst>
          </p:cNvPr>
          <p:cNvSpPr>
            <a:spLocks noGrp="1"/>
          </p:cNvSpPr>
          <p:nvPr/>
        </p:nvSpPr>
        <p:spPr>
          <a:xfrm>
            <a:off x="476250" y="2714625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C44066-6BD1-4A0C-AACF-247334CA55C2}"/>
              </a:ext>
            </a:extLst>
          </p:cNvPr>
          <p:cNvSpPr>
            <a:spLocks noGrp="1"/>
          </p:cNvSpPr>
          <p:nvPr/>
        </p:nvSpPr>
        <p:spPr>
          <a:xfrm>
            <a:off x="619125" y="273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5E95EF-B66A-4862-ABDC-800BDFAF4255}"/>
              </a:ext>
            </a:extLst>
          </p:cNvPr>
          <p:cNvSpPr>
            <a:spLocks noGrp="1"/>
          </p:cNvSpPr>
          <p:nvPr/>
        </p:nvSpPr>
        <p:spPr>
          <a:xfrm>
            <a:off x="1000125" y="27527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A554B4-43F9-4C80-A60D-F335EDDDB6C7}"/>
              </a:ext>
            </a:extLst>
          </p:cNvPr>
          <p:cNvSpPr>
            <a:spLocks noGrp="1"/>
          </p:cNvSpPr>
          <p:nvPr/>
        </p:nvSpPr>
        <p:spPr>
          <a:xfrm>
            <a:off x="1000125" y="294322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Bond &amp; policy engine (4 trust tiers)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1898CA-42ED-4E85-B014-D6868B0F4D99}"/>
              </a:ext>
            </a:extLst>
          </p:cNvPr>
          <p:cNvSpPr>
            <a:spLocks noGrp="1"/>
          </p:cNvSpPr>
          <p:nvPr/>
        </p:nvSpPr>
        <p:spPr>
          <a:xfrm>
            <a:off x="476250" y="3333750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03E63E-A086-49B6-81DB-D1A4C5976317}"/>
              </a:ext>
            </a:extLst>
          </p:cNvPr>
          <p:cNvSpPr>
            <a:spLocks noGrp="1"/>
          </p:cNvSpPr>
          <p:nvPr/>
        </p:nvSpPr>
        <p:spPr>
          <a:xfrm>
            <a:off x="619125" y="335280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E130E3-F9F2-4499-BD06-92B91D39BA21}"/>
              </a:ext>
            </a:extLst>
          </p:cNvPr>
          <p:cNvSpPr>
            <a:spLocks noGrp="1"/>
          </p:cNvSpPr>
          <p:nvPr/>
        </p:nvSpPr>
        <p:spPr>
          <a:xfrm>
            <a:off x="1000125" y="33718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80B9F5-8489-402A-976F-42AA76F0C98B}"/>
              </a:ext>
            </a:extLst>
          </p:cNvPr>
          <p:cNvSpPr>
            <a:spLocks noGrp="1"/>
          </p:cNvSpPr>
          <p:nvPr/>
        </p:nvSpPr>
        <p:spPr>
          <a:xfrm>
            <a:off x="1000125" y="35623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Local node (signed messages, vault index)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DCC3F3-FEE6-4D84-90AA-424D4822A188}"/>
              </a:ext>
            </a:extLst>
          </p:cNvPr>
          <p:cNvSpPr>
            <a:spLocks noGrp="1"/>
          </p:cNvSpPr>
          <p:nvPr/>
        </p:nvSpPr>
        <p:spPr>
          <a:xfrm>
            <a:off x="476250" y="3952875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E917BE-F5F5-403F-BF54-24E7F85FFF0F}"/>
              </a:ext>
            </a:extLst>
          </p:cNvPr>
          <p:cNvSpPr>
            <a:spLocks noGrp="1"/>
          </p:cNvSpPr>
          <p:nvPr/>
        </p:nvSpPr>
        <p:spPr>
          <a:xfrm>
            <a:off x="619125" y="39719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B58AEB-E5A6-4813-8D44-548275CF7390}"/>
              </a:ext>
            </a:extLst>
          </p:cNvPr>
          <p:cNvSpPr>
            <a:spLocks noGrp="1"/>
          </p:cNvSpPr>
          <p:nvPr/>
        </p:nvSpPr>
        <p:spPr>
          <a:xfrm>
            <a:off x="1000125" y="39909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956A5-DC0C-497B-8128-F2B40397B110}"/>
              </a:ext>
            </a:extLst>
          </p:cNvPr>
          <p:cNvSpPr>
            <a:spLocks noGrp="1"/>
          </p:cNvSpPr>
          <p:nvPr/>
        </p:nvSpPr>
        <p:spPr>
          <a:xfrm>
            <a:off x="1000125" y="418147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P2P network (libp2p: TCP/QUIC/mDNS/DHT/Relay)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440E6E-CDEF-4169-9E32-0FD55E071533}"/>
              </a:ext>
            </a:extLst>
          </p:cNvPr>
          <p:cNvSpPr>
            <a:spLocks noGrp="1"/>
          </p:cNvSpPr>
          <p:nvPr/>
        </p:nvSpPr>
        <p:spPr>
          <a:xfrm>
            <a:off x="476250" y="4572000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C9CF72-4633-4BB2-AEB3-800F62BD89C7}"/>
              </a:ext>
            </a:extLst>
          </p:cNvPr>
          <p:cNvSpPr>
            <a:spLocks noGrp="1"/>
          </p:cNvSpPr>
          <p:nvPr/>
        </p:nvSpPr>
        <p:spPr>
          <a:xfrm>
            <a:off x="619125" y="459105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E6277A-2CC2-42EE-842D-5750F31300AD}"/>
              </a:ext>
            </a:extLst>
          </p:cNvPr>
          <p:cNvSpPr>
            <a:spLocks noGrp="1"/>
          </p:cNvSpPr>
          <p:nvPr/>
        </p:nvSpPr>
        <p:spPr>
          <a:xfrm>
            <a:off x="1000125" y="46101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443B96-D26F-440D-99AB-5938E9A3E2FE}"/>
              </a:ext>
            </a:extLst>
          </p:cNvPr>
          <p:cNvSpPr>
            <a:spLocks noGrp="1"/>
          </p:cNvSpPr>
          <p:nvPr/>
        </p:nvSpPr>
        <p:spPr>
          <a:xfrm>
            <a:off x="1000125" y="48006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Shared vault (path-safety, IPFS metadata)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E5FA8F-79A5-4A8A-8AA5-B47E0150B63F}"/>
              </a:ext>
            </a:extLst>
          </p:cNvPr>
          <p:cNvSpPr>
            <a:spLocks noGrp="1"/>
          </p:cNvSpPr>
          <p:nvPr/>
        </p:nvSpPr>
        <p:spPr>
          <a:xfrm>
            <a:off x="476250" y="5191125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69F124-E2A7-4553-AF8A-F83A9FAEE5A6}"/>
              </a:ext>
            </a:extLst>
          </p:cNvPr>
          <p:cNvSpPr>
            <a:spLocks noGrp="1"/>
          </p:cNvSpPr>
          <p:nvPr/>
        </p:nvSpPr>
        <p:spPr>
          <a:xfrm>
            <a:off x="619125" y="52101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C504CE-5EB6-4E14-925A-D385EC0DB456}"/>
              </a:ext>
            </a:extLst>
          </p:cNvPr>
          <p:cNvSpPr>
            <a:spLocks noGrp="1"/>
          </p:cNvSpPr>
          <p:nvPr/>
        </p:nvSpPr>
        <p:spPr>
          <a:xfrm>
            <a:off x="1000125" y="52292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D054FB-351F-44A0-9167-CBC03CC96BD8}"/>
              </a:ext>
            </a:extLst>
          </p:cNvPr>
          <p:cNvSpPr>
            <a:spLocks noGrp="1"/>
          </p:cNvSpPr>
          <p:nvPr/>
        </p:nvSpPr>
        <p:spPr>
          <a:xfrm>
            <a:off x="1000125" y="541972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Model router (provider selection, firewall)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C30C75-42E7-40B2-A8DC-E27DD35249E8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9B88F7-5495-4A65-96FF-B77F39A53713}"/>
              </a:ext>
            </a:extLst>
          </p:cNvPr>
          <p:cNvSpPr>
            <a:spLocks noGrp="1"/>
          </p:cNvSpPr>
          <p:nvPr/>
        </p:nvSpPr>
        <p:spPr>
          <a:xfrm>
            <a:off x="6524625" y="14954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831169-7E8F-4F38-8535-461515265691}"/>
              </a:ext>
            </a:extLst>
          </p:cNvPr>
          <p:cNvSpPr>
            <a:spLocks noGrp="1"/>
          </p:cNvSpPr>
          <p:nvPr/>
        </p:nvSpPr>
        <p:spPr>
          <a:xfrm>
            <a:off x="6905625" y="15144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274C47-9A27-4FF4-AE1F-BE115BC2C818}"/>
              </a:ext>
            </a:extLst>
          </p:cNvPr>
          <p:cNvSpPr>
            <a:spLocks noGrp="1"/>
          </p:cNvSpPr>
          <p:nvPr/>
        </p:nvSpPr>
        <p:spPr>
          <a:xfrm>
            <a:off x="6905625" y="170497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Product surface (Social UI, CLI, Tauri)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46791E-1CD0-431F-A02D-795E82F75BAB}"/>
              </a:ext>
            </a:extLst>
          </p:cNvPr>
          <p:cNvSpPr>
            <a:spLocks noGrp="1"/>
          </p:cNvSpPr>
          <p:nvPr/>
        </p:nvSpPr>
        <p:spPr>
          <a:xfrm>
            <a:off x="6381750" y="2095500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00392B-EBBB-483A-A0B7-883C76C981A7}"/>
              </a:ext>
            </a:extLst>
          </p:cNvPr>
          <p:cNvSpPr>
            <a:spLocks noGrp="1"/>
          </p:cNvSpPr>
          <p:nvPr/>
        </p:nvSpPr>
        <p:spPr>
          <a:xfrm>
            <a:off x="6524625" y="211455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4BE8E6-F5E9-4059-9701-695E08B5D797}"/>
              </a:ext>
            </a:extLst>
          </p:cNvPr>
          <p:cNvSpPr>
            <a:spLocks noGrp="1"/>
          </p:cNvSpPr>
          <p:nvPr/>
        </p:nvSpPr>
        <p:spPr>
          <a:xfrm>
            <a:off x="6905625" y="21336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8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B80255-F5BB-4B3B-BACB-3594A732465E}"/>
              </a:ext>
            </a:extLst>
          </p:cNvPr>
          <p:cNvSpPr>
            <a:spLocks noGrp="1"/>
          </p:cNvSpPr>
          <p:nvPr/>
        </p:nvSpPr>
        <p:spPr>
          <a:xfrm>
            <a:off x="6905625" y="23241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Agentic normal node (LLM knowledge.query)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D5C975-BBD8-4D8F-BF27-4241DBB4B170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C0ED1A-705A-4542-9DFF-D91183ADA6D1}"/>
              </a:ext>
            </a:extLst>
          </p:cNvPr>
          <p:cNvSpPr>
            <a:spLocks noGrp="1"/>
          </p:cNvSpPr>
          <p:nvPr/>
        </p:nvSpPr>
        <p:spPr>
          <a:xfrm>
            <a:off x="6524625" y="273367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F6C0D2B-BB68-4EF0-901D-E8743DF34BE0}"/>
              </a:ext>
            </a:extLst>
          </p:cNvPr>
          <p:cNvSpPr>
            <a:spLocks noGrp="1"/>
          </p:cNvSpPr>
          <p:nvPr/>
        </p:nvSpPr>
        <p:spPr>
          <a:xfrm>
            <a:off x="6905625" y="27527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9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82F24B-0375-4B86-B8EE-9864644E1E59}"/>
              </a:ext>
            </a:extLst>
          </p:cNvPr>
          <p:cNvSpPr>
            <a:spLocks noGrp="1"/>
          </p:cNvSpPr>
          <p:nvPr/>
        </p:nvSpPr>
        <p:spPr>
          <a:xfrm>
            <a:off x="6905625" y="294322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AI-Augmented Agent (tools, memory, modes)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1677EE-1797-4FE5-9B41-4C369289DA95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4A00B0-E881-4755-AB95-2882F5380849}"/>
              </a:ext>
            </a:extLst>
          </p:cNvPr>
          <p:cNvSpPr>
            <a:spLocks noGrp="1"/>
          </p:cNvSpPr>
          <p:nvPr/>
        </p:nvSpPr>
        <p:spPr>
          <a:xfrm>
            <a:off x="6524625" y="335280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A16C0A-22BE-49C7-8061-AA152E4E36F7}"/>
              </a:ext>
            </a:extLst>
          </p:cNvPr>
          <p:cNvSpPr>
            <a:spLocks noGrp="1"/>
          </p:cNvSpPr>
          <p:nvPr/>
        </p:nvSpPr>
        <p:spPr>
          <a:xfrm>
            <a:off x="6905625" y="33718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93A708-C207-4997-B5B3-9D8AD4B6EAA3}"/>
              </a:ext>
            </a:extLst>
          </p:cNvPr>
          <p:cNvSpPr>
            <a:spLocks noGrp="1"/>
          </p:cNvSpPr>
          <p:nvPr/>
        </p:nvSpPr>
        <p:spPr>
          <a:xfrm>
            <a:off x="6905625" y="35623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Mobile (iOS/Android, in-process node)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5EFAB5-3316-4DB6-A3C0-77E7F09A8B7F}"/>
              </a:ext>
            </a:extLst>
          </p:cNvPr>
          <p:cNvSpPr>
            <a:spLocks noGrp="1"/>
          </p:cNvSpPr>
          <p:nvPr/>
        </p:nvSpPr>
        <p:spPr>
          <a:xfrm>
            <a:off x="6381750" y="3952875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B72553-5832-4BC4-A168-D8B2DD32D46E}"/>
              </a:ext>
            </a:extLst>
          </p:cNvPr>
          <p:cNvSpPr>
            <a:spLocks noGrp="1"/>
          </p:cNvSpPr>
          <p:nvPr/>
        </p:nvSpPr>
        <p:spPr>
          <a:xfrm>
            <a:off x="6524625" y="3971925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🔄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1C601E8-AFC0-4102-A84C-97E62A4F62FE}"/>
              </a:ext>
            </a:extLst>
          </p:cNvPr>
          <p:cNvSpPr>
            <a:spLocks noGrp="1"/>
          </p:cNvSpPr>
          <p:nvPr/>
        </p:nvSpPr>
        <p:spPr>
          <a:xfrm>
            <a:off x="6905625" y="39909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DFFD90-9C37-42C7-98CE-9CC275FB7176}"/>
              </a:ext>
            </a:extLst>
          </p:cNvPr>
          <p:cNvSpPr>
            <a:spLocks noGrp="1"/>
          </p:cNvSpPr>
          <p:nvPr/>
        </p:nvSpPr>
        <p:spPr>
          <a:xfrm>
            <a:off x="6905625" y="418147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HomeClaw App P2P integration (Dart)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DFF1A1-13AC-4A1C-B2E5-5E72065A772D}"/>
              </a:ext>
            </a:extLst>
          </p:cNvPr>
          <p:cNvSpPr>
            <a:spLocks noGrp="1"/>
          </p:cNvSpPr>
          <p:nvPr/>
        </p:nvSpPr>
        <p:spPr>
          <a:xfrm>
            <a:off x="6381750" y="4572000"/>
            <a:ext cx="5619750" cy="4762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09A1D08-2E37-40EB-8CA0-C390965376C0}"/>
              </a:ext>
            </a:extLst>
          </p:cNvPr>
          <p:cNvSpPr>
            <a:spLocks noGrp="1"/>
          </p:cNvSpPr>
          <p:nvPr/>
        </p:nvSpPr>
        <p:spPr>
          <a:xfrm>
            <a:off x="6524625" y="4591050"/>
            <a:ext cx="38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🔄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58A97A-0097-4BDC-9AAE-5D95659A675F}"/>
              </a:ext>
            </a:extLst>
          </p:cNvPr>
          <p:cNvSpPr>
            <a:spLocks noGrp="1"/>
          </p:cNvSpPr>
          <p:nvPr/>
        </p:nvSpPr>
        <p:spPr>
          <a:xfrm>
            <a:off x="6905625" y="46101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4E2F90-14C7-40DE-B7EB-259A739A7518}"/>
              </a:ext>
            </a:extLst>
          </p:cNvPr>
          <p:cNvSpPr>
            <a:spLocks noGrp="1"/>
          </p:cNvSpPr>
          <p:nvPr/>
        </p:nvSpPr>
        <p:spPr>
          <a:xfrm>
            <a:off x="6905625" y="48006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Trust mode &amp; bilateral social mediation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BC044A-0583-414E-8C67-7FEAFB3B5C41}"/>
              </a:ext>
            </a:extLst>
          </p:cNvPr>
          <p:cNvSpPr>
            <a:spLocks noGrp="1"/>
          </p:cNvSpPr>
          <p:nvPr/>
        </p:nvSpPr>
        <p:spPr>
          <a:xfrm>
            <a:off x="476250" y="1476375"/>
            <a:ext cx="952500" cy="433387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E5850D3-CE16-44B7-8FA7-91E6471E9B40}"/>
              </a:ext>
            </a:extLst>
          </p:cNvPr>
          <p:cNvSpPr>
            <a:spLocks noGrp="1"/>
          </p:cNvSpPr>
          <p:nvPr/>
        </p:nvSpPr>
        <p:spPr>
          <a:xfrm>
            <a:off x="476250" y="5191125"/>
            <a:ext cx="952500" cy="619125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E603AB-D57D-452E-A192-574109B39D62}"/>
              </a:ext>
            </a:extLst>
          </p:cNvPr>
          <p:cNvSpPr>
            <a:spLocks noGrp="1"/>
          </p:cNvSpPr>
          <p:nvPr/>
        </p:nvSpPr>
        <p:spPr>
          <a:xfrm>
            <a:off x="523875" y="1905000"/>
            <a:ext cx="857250" cy="190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F4136AB-B211-4B9D-91F2-074C94B373FD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8572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  <a:p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WIP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7BD773-FC9C-4F9E-B0B0-8701A13D1943}"/>
              </a:ext>
            </a:extLst>
          </p:cNvPr>
          <p:cNvSpPr>
            <a:spLocks noGrp="1"/>
          </p:cNvSpPr>
          <p:nvPr/>
        </p:nvSpPr>
        <p:spPr>
          <a:xfrm>
            <a:off x="476250" y="5953125"/>
            <a:ext cx="1762125" cy="6191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0154717-233E-47EC-996F-FE486D91F16E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571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588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9271DB-5F3F-4660-8097-A78E704B734A}"/>
              </a:ext>
            </a:extLst>
          </p:cNvPr>
          <p:cNvSpPr>
            <a:spLocks noGrp="1"/>
          </p:cNvSpPr>
          <p:nvPr/>
        </p:nvSpPr>
        <p:spPr>
          <a:xfrm>
            <a:off x="571500" y="628650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Tasks Completed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C5B4CFE-91E6-4061-974D-5D5E295D54F5}"/>
              </a:ext>
            </a:extLst>
          </p:cNvPr>
          <p:cNvSpPr>
            <a:spLocks noGrp="1"/>
          </p:cNvSpPr>
          <p:nvPr/>
        </p:nvSpPr>
        <p:spPr>
          <a:xfrm>
            <a:off x="2428875" y="5953125"/>
            <a:ext cx="1762125" cy="6191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2B55B6B-08F4-4EE5-B3ED-19594F7A0056}"/>
              </a:ext>
            </a:extLst>
          </p:cNvPr>
          <p:cNvSpPr>
            <a:spLocks noGrp="1"/>
          </p:cNvSpPr>
          <p:nvPr/>
        </p:nvSpPr>
        <p:spPr>
          <a:xfrm>
            <a:off x="2524125" y="6000750"/>
            <a:ext cx="1571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45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0494592-C3C0-41DD-9B99-4FCB7A704007}"/>
              </a:ext>
            </a:extLst>
          </p:cNvPr>
          <p:cNvSpPr>
            <a:spLocks noGrp="1"/>
          </p:cNvSpPr>
          <p:nvPr/>
        </p:nvSpPr>
        <p:spPr>
          <a:xfrm>
            <a:off x="2524125" y="628650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A03B726-546C-4035-89D2-6A408B444C07}"/>
              </a:ext>
            </a:extLst>
          </p:cNvPr>
          <p:cNvSpPr>
            <a:spLocks noGrp="1"/>
          </p:cNvSpPr>
          <p:nvPr/>
        </p:nvSpPr>
        <p:spPr>
          <a:xfrm>
            <a:off x="4381500" y="5953125"/>
            <a:ext cx="1762125" cy="6191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927F819-5F43-40BE-A7BF-9B58812C05D3}"/>
              </a:ext>
            </a:extLst>
          </p:cNvPr>
          <p:cNvSpPr>
            <a:spLocks noGrp="1"/>
          </p:cNvSpPr>
          <p:nvPr/>
        </p:nvSpPr>
        <p:spPr>
          <a:xfrm>
            <a:off x="4476750" y="6000750"/>
            <a:ext cx="1571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116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70D1AE6-DA4B-4BFD-B52F-A6C34A9F86FB}"/>
              </a:ext>
            </a:extLst>
          </p:cNvPr>
          <p:cNvSpPr>
            <a:spLocks noGrp="1"/>
          </p:cNvSpPr>
          <p:nvPr/>
        </p:nvSpPr>
        <p:spPr>
          <a:xfrm>
            <a:off x="4476750" y="628650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3BADA80-5016-4CC5-9854-24469DDE1E9E}"/>
              </a:ext>
            </a:extLst>
          </p:cNvPr>
          <p:cNvSpPr>
            <a:spLocks noGrp="1"/>
          </p:cNvSpPr>
          <p:nvPr/>
        </p:nvSpPr>
        <p:spPr>
          <a:xfrm>
            <a:off x="6334125" y="5953125"/>
            <a:ext cx="1762125" cy="6191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3646037-2141-4740-AAE4-BB2CF57253AF}"/>
              </a:ext>
            </a:extLst>
          </p:cNvPr>
          <p:cNvSpPr>
            <a:spLocks noGrp="1"/>
          </p:cNvSpPr>
          <p:nvPr/>
        </p:nvSpPr>
        <p:spPr>
          <a:xfrm>
            <a:off x="6429375" y="6000750"/>
            <a:ext cx="1571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54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30985C7-3FF2-46B9-906D-D3084EC4DFAC}"/>
              </a:ext>
            </a:extLst>
          </p:cNvPr>
          <p:cNvSpPr>
            <a:spLocks noGrp="1"/>
          </p:cNvSpPr>
          <p:nvPr/>
        </p:nvSpPr>
        <p:spPr>
          <a:xfrm>
            <a:off x="6429375" y="628650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Typed Intents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5F2C71D-F75C-456A-80E1-D4CF24CC7B8A}"/>
              </a:ext>
            </a:extLst>
          </p:cNvPr>
          <p:cNvSpPr>
            <a:spLocks noGrp="1"/>
          </p:cNvSpPr>
          <p:nvPr/>
        </p:nvSpPr>
        <p:spPr>
          <a:xfrm>
            <a:off x="8286750" y="5953125"/>
            <a:ext cx="1762125" cy="6191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FBBC78E-8B1B-49DF-9919-45841194FB4A}"/>
              </a:ext>
            </a:extLst>
          </p:cNvPr>
          <p:cNvSpPr>
            <a:spLocks noGrp="1"/>
          </p:cNvSpPr>
          <p:nvPr/>
        </p:nvSpPr>
        <p:spPr>
          <a:xfrm>
            <a:off x="8382000" y="6000750"/>
            <a:ext cx="1571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69E6B54-2AEE-46A9-A205-EB9A513E7F61}"/>
              </a:ext>
            </a:extLst>
          </p:cNvPr>
          <p:cNvSpPr>
            <a:spLocks noGrp="1"/>
          </p:cNvSpPr>
          <p:nvPr/>
        </p:nvSpPr>
        <p:spPr>
          <a:xfrm>
            <a:off x="8382000" y="628650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Packages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60185EF-563B-4C76-BC58-AABD13DB76AD}"/>
              </a:ext>
            </a:extLst>
          </p:cNvPr>
          <p:cNvSpPr>
            <a:spLocks noGrp="1"/>
          </p:cNvSpPr>
          <p:nvPr/>
        </p:nvSpPr>
        <p:spPr>
          <a:xfrm>
            <a:off x="10239375" y="5953125"/>
            <a:ext cx="1762125" cy="6191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6434885-A034-4D9D-A797-CF7A857969F0}"/>
              </a:ext>
            </a:extLst>
          </p:cNvPr>
          <p:cNvSpPr>
            <a:spLocks noGrp="1"/>
          </p:cNvSpPr>
          <p:nvPr/>
        </p:nvSpPr>
        <p:spPr>
          <a:xfrm>
            <a:off x="10334625" y="6000750"/>
            <a:ext cx="1571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979EA8C-09FC-4B96-90CF-0A8421DE3C59}"/>
              </a:ext>
            </a:extLst>
          </p:cNvPr>
          <p:cNvSpPr>
            <a:spLocks noGrp="1"/>
          </p:cNvSpPr>
          <p:nvPr/>
        </p:nvSpPr>
        <p:spPr>
          <a:xfrm>
            <a:off x="10334625" y="6286500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Apps</a:t>
            </a:r>
          </a:p>
        </p:txBody>
      </p:sp>
    </p:spTree>
    <p:extLst>
      <p:ext uri="{BB962C8B-B14F-4D97-AF65-F5344CB8AC3E}">
        <p14:creationId xmlns:p14="http://schemas.microsoft.com/office/powerpoint/2010/main" val="592707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0A495284-A128-4C04-8400-CD5177D883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221BD-EB90-4DD0-8772-2C679F7CE798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1066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3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Display"/>
                <a:ea typeface="Aptos Display"/>
                <a:cs typeface="Aptos Display"/>
              </a:rPr>
              <a:t>A world where AI agents represent people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40E6A-CD69-4DDD-B79B-9E5A49723D00}"/>
              </a:ext>
            </a:extLst>
          </p:cNvPr>
          <p:cNvSpPr>
            <a:spLocks noGrp="1"/>
          </p:cNvSpPr>
          <p:nvPr/>
        </p:nvSpPr>
        <p:spPr>
          <a:xfrm>
            <a:off x="762000" y="1095375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0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18CF8"/>
                </a:solidFill>
                <a:latin typeface="Aptos"/>
                <a:ea typeface="Aptos"/>
                <a:cs typeface="Aptos"/>
              </a:rPr>
              <a:t>in a secure, decentralized network — no cloud dependency, no central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8107AE-24DD-488C-B335-80DA37FA41F9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3429000" cy="1428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6B22C-553E-4720-83F0-0259045E9A4E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🔐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B4F6F2-3B20-4744-B747-E6FCE15ACA26}"/>
              </a:ext>
            </a:extLst>
          </p:cNvPr>
          <p:cNvSpPr>
            <a:spLocks noGrp="1"/>
          </p:cNvSpPr>
          <p:nvPr/>
        </p:nvSpPr>
        <p:spPr>
          <a:xfrm>
            <a:off x="1238250" y="188595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Owner 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767D00-8424-434C-8FBA-C84460DE445C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3048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Data starts under user control.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Envoy indexes &amp; shares only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what owner explicitly approves.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0B086B-25B7-474A-937C-3726BB07F0E7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3429000" cy="1428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A149E4-66A8-4271-96AD-A08BB5D5C208}"/>
              </a:ext>
            </a:extLst>
          </p:cNvPr>
          <p:cNvSpPr>
            <a:spLocks noGrp="1"/>
          </p:cNvSpPr>
          <p:nvPr/>
        </p:nvSpPr>
        <p:spPr>
          <a:xfrm>
            <a:off x="4572000" y="1857375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🔗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EC0C05-42EF-4261-9DB6-F11CB82A8E22}"/>
              </a:ext>
            </a:extLst>
          </p:cNvPr>
          <p:cNvSpPr>
            <a:spLocks noGrp="1"/>
          </p:cNvSpPr>
          <p:nvPr/>
        </p:nvSpPr>
        <p:spPr>
          <a:xfrm>
            <a:off x="5048250" y="188595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P2P First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43CAC3-C303-4497-913F-BE092F507F91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3048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Peers communicate directly.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Discovery, routing, gossip prefer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distributed protocols over central API.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54EC64-9F54-44B3-916F-8E2CAFD6AF4C}"/>
              </a:ext>
            </a:extLst>
          </p:cNvPr>
          <p:cNvSpPr>
            <a:spLocks noGrp="1"/>
          </p:cNvSpPr>
          <p:nvPr/>
        </p:nvSpPr>
        <p:spPr>
          <a:xfrm>
            <a:off x="8191500" y="1714500"/>
            <a:ext cx="3429000" cy="1428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1FE66C-A903-4D04-8249-8596B4FCDED4}"/>
              </a:ext>
            </a:extLst>
          </p:cNvPr>
          <p:cNvSpPr>
            <a:spLocks noGrp="1"/>
          </p:cNvSpPr>
          <p:nvPr/>
        </p:nvSpPr>
        <p:spPr>
          <a:xfrm>
            <a:off x="8382000" y="1857375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🛡️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1D251C-FF94-4A99-BC55-F67C8C3DA74B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Privacy by Default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122FE-5CD5-4321-BAD0-E67EDB7E8A07}"/>
              </a:ext>
            </a:extLst>
          </p:cNvPr>
          <p:cNvSpPr>
            <a:spLocks noGrp="1"/>
          </p:cNvSpPr>
          <p:nvPr/>
        </p:nvSpPr>
        <p:spPr>
          <a:xfrm>
            <a:off x="8382000" y="2333625"/>
            <a:ext cx="3048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No free filesystem access.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Access granted through narrow,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auditable capabilities.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F8C7F4-AD87-4630-BDBF-BE16568A58C7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3429000" cy="1428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1C7972-D28F-433F-A9B6-93CAFBBA14C1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BC001A-30AC-4CBF-9764-959D1AA7257C}"/>
              </a:ext>
            </a:extLst>
          </p:cNvPr>
          <p:cNvSpPr>
            <a:spLocks noGrp="1"/>
          </p:cNvSpPr>
          <p:nvPr/>
        </p:nvSpPr>
        <p:spPr>
          <a:xfrm>
            <a:off x="1238250" y="35052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Security by Isolation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7C18B9-2108-4B20-88FF-23E4C0E43AE5}"/>
              </a:ext>
            </a:extLst>
          </p:cNvPr>
          <p:cNvSpPr>
            <a:spLocks noGrp="1"/>
          </p:cNvSpPr>
          <p:nvPr/>
        </p:nvSpPr>
        <p:spPr>
          <a:xfrm>
            <a:off x="762000" y="3952875"/>
            <a:ext cx="3048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Diplomat — Bonds — Brain —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Vault: four isolated planes.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LLM is not the security boundary.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3B51F0-A5D6-44BE-8F44-E2BD6EF72C9E}"/>
              </a:ext>
            </a:extLst>
          </p:cNvPr>
          <p:cNvSpPr>
            <a:spLocks noGrp="1"/>
          </p:cNvSpPr>
          <p:nvPr/>
        </p:nvSpPr>
        <p:spPr>
          <a:xfrm>
            <a:off x="4381500" y="3333750"/>
            <a:ext cx="3429000" cy="1428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F279EA-3B1E-4C60-9641-5F261A594AD8}"/>
              </a:ext>
            </a:extLst>
          </p:cNvPr>
          <p:cNvSpPr>
            <a:spLocks noGrp="1"/>
          </p:cNvSpPr>
          <p:nvPr/>
        </p:nvSpPr>
        <p:spPr>
          <a:xfrm>
            <a:off x="4572000" y="3476625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🪜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EAAA05-4B7B-4728-98E7-F363465BC873}"/>
              </a:ext>
            </a:extLst>
          </p:cNvPr>
          <p:cNvSpPr>
            <a:spLocks noGrp="1"/>
          </p:cNvSpPr>
          <p:nvPr/>
        </p:nvSpPr>
        <p:spPr>
          <a:xfrm>
            <a:off x="5048250" y="35052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Trust Gradual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85827A-13F2-40F3-89A8-B0560B165532}"/>
              </a:ext>
            </a:extLst>
          </p:cNvPr>
          <p:cNvSpPr>
            <a:spLocks noGrp="1"/>
          </p:cNvSpPr>
          <p:nvPr/>
        </p:nvSpPr>
        <p:spPr>
          <a:xfrm>
            <a:off x="4572000" y="3952875"/>
            <a:ext cx="3048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blocked → public → referred →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direct. Different permissions for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different relationships.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DE0C3C-7ABF-429B-AC5A-FEF0784174AD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3429000" cy="142875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025F04-31D2-44F6-A746-B15EB5A8B0FF}"/>
              </a:ext>
            </a:extLst>
          </p:cNvPr>
          <p:cNvSpPr>
            <a:spLocks noGrp="1"/>
          </p:cNvSpPr>
          <p:nvPr/>
        </p:nvSpPr>
        <p:spPr>
          <a:xfrm>
            <a:off x="8382000" y="3476625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🤖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377676-4723-4C72-97A4-6B612AE46EFE}"/>
              </a:ext>
            </a:extLst>
          </p:cNvPr>
          <p:cNvSpPr>
            <a:spLocks noGrp="1"/>
          </p:cNvSpPr>
          <p:nvPr/>
        </p:nvSpPr>
        <p:spPr>
          <a:xfrm>
            <a:off x="8858250" y="350520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1F5F9"/>
                </a:solidFill>
                <a:latin typeface="Aptos Display"/>
                <a:ea typeface="Aptos Display"/>
                <a:cs typeface="Aptos Display"/>
              </a:rPr>
              <a:t>Bounded Autonomy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7C132B-A2B1-42B2-8CAF-797C7FA39C22}"/>
              </a:ext>
            </a:extLst>
          </p:cNvPr>
          <p:cNvSpPr>
            <a:spLocks noGrp="1"/>
          </p:cNvSpPr>
          <p:nvPr/>
        </p:nvSpPr>
        <p:spPr>
          <a:xfrm>
            <a:off x="8382000" y="3952875"/>
            <a:ext cx="3048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Direct workflows first.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Broadcast and discovery after</a:t>
            </a:r>
          </a:p>
          <a:p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sandboxing and egress controls.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94CF7F-8500-417B-8FD5-D8245E665BA8}"/>
              </a:ext>
            </a:extLst>
          </p:cNvPr>
          <p:cNvSpPr>
            <a:spLocks noGrp="1"/>
          </p:cNvSpPr>
          <p:nvPr/>
        </p:nvSpPr>
        <p:spPr>
          <a:xfrm>
            <a:off x="571500" y="5143500"/>
            <a:ext cx="11049000" cy="762000"/>
          </a:xfrm>
          <a:prstGeom prst="rect">
            <a:avLst/>
          </a:prstGeom>
          <a:solidFill>
            <a:srgbClr val="1E293B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59CBD5-4719-48BA-AB6C-42568E2ABAF5}"/>
              </a:ext>
            </a:extLst>
          </p:cNvPr>
          <p:cNvSpPr>
            <a:spLocks noGrp="1"/>
          </p:cNvSpPr>
          <p:nvPr/>
        </p:nvSpPr>
        <p:spPr>
          <a:xfrm>
            <a:off x="571500" y="5143500"/>
            <a:ext cx="38100" cy="762000"/>
          </a:xfrm>
          <a:prstGeom prst="rect">
            <a:avLst/>
          </a:prstGeom>
          <a:solidFill>
            <a:srgbClr val="4F46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A44619-C270-41E8-9BE4-B7D5488DFB05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1047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EnvoyMesh is not a centralized AI SaaS product. It is not a generic autonomous agent. It is not purely a blockchain project.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2EF4CD-4A14-4821-8EE1-FB1143025764}"/>
              </a:ext>
            </a:extLst>
          </p:cNvPr>
          <p:cNvSpPr>
            <a:spLocks noGrp="1"/>
          </p:cNvSpPr>
          <p:nvPr/>
        </p:nvSpPr>
        <p:spPr>
          <a:xfrm>
            <a:off x="857250" y="5543550"/>
            <a:ext cx="1047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It is a P2P agent mesh with owner-controlled data — where AI agents represent people, securely and without central authority.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2840EC-92B5-4A2F-A180-C7C0CC4AE0F4}"/>
              </a:ext>
            </a:extLst>
          </p:cNvPr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0DF46D-AC64-4625-852B-D85F2F1A26B1}"/>
              </a:ext>
            </a:extLst>
          </p:cNvPr>
          <p:cNvSpPr>
            <a:spLocks noGrp="1"/>
          </p:cNvSpPr>
          <p:nvPr/>
        </p:nvSpPr>
        <p:spPr>
          <a:xfrm>
            <a:off x="762000" y="6267450"/>
            <a:ext cx="4762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github.com/shileipeng/EnvoyMesh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E5416E-5879-454F-B58C-CAB4449BB352}"/>
              </a:ext>
            </a:extLst>
          </p:cNvPr>
          <p:cNvSpPr>
            <a:spLocks noGrp="1"/>
          </p:cNvSpPr>
          <p:nvPr/>
        </p:nvSpPr>
        <p:spPr>
          <a:xfrm>
            <a:off x="762000" y="652462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TypeScript · libp2p · Ed25519 · React · Capacitor · SQLite · Tauri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515532-852D-4DFC-82D1-6FCE5C42909D}"/>
              </a:ext>
            </a:extLst>
          </p:cNvPr>
          <p:cNvSpPr>
            <a:spLocks noGrp="1"/>
          </p:cNvSpPr>
          <p:nvPr/>
        </p:nvSpPr>
        <p:spPr>
          <a:xfrm>
            <a:off x="7620000" y="6286500"/>
            <a:ext cx="3810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818C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18CF8"/>
                </a:solidFill>
                <a:latin typeface="Aptos"/>
                <a:ea typeface="Aptos"/>
                <a:cs typeface="Aptos"/>
              </a:rPr>
              <a:t>Phase 11 complete · May 2026</a:t>
            </a:r>
          </a:p>
        </p:txBody>
      </p:sp>
    </p:spTree>
    <p:extLst>
      <p:ext uri="{BB962C8B-B14F-4D97-AF65-F5344CB8AC3E}">
        <p14:creationId xmlns:p14="http://schemas.microsoft.com/office/powerpoint/2010/main" val="1142145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2153</Words>
  <Application>Microsoft Macintosh PowerPoint</Application>
  <DocSecurity>0</DocSecurity>
  <PresentationFormat>Widescreen</PresentationFormat>
  <Paragraphs>404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Allen Peng</cp:lastModifiedBy>
  <cp:revision>1</cp:revision>
  <dcterms:created xsi:type="dcterms:W3CDTF">2026-05-26T16:22:17Z</dcterms:created>
  <dcterms:modified xsi:type="dcterms:W3CDTF">2026-05-26T16:28:42Z</dcterms:modified>
</cp:coreProperties>
</file>